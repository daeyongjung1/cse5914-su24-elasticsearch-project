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y="5143500" cx="9144000"/>
  <p:notesSz cx="6858000" cy="9144000"/>
  <p:embeddedFontLst>
    <p:embeddedFont>
      <p:font typeface="Roboto Slab"/>
      <p:regular r:id="rId21"/>
      <p:bold r:id="rId22"/>
    </p:embeddedFont>
    <p:embeddedFont>
      <p:font typeface="Squada One"/>
      <p:regular r:id="rId23"/>
    </p:embeddedFont>
    <p:embeddedFont>
      <p:font typeface="Open Sans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8" roundtripDataSignature="AMtx7mgd8hfgDfhCdo5ldVYATKVW5awxb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font" Target="fonts/RobotoSlab-bold.fntdata"/><Relationship Id="rId21" Type="http://schemas.openxmlformats.org/officeDocument/2006/relationships/font" Target="fonts/RobotoSlab-regular.fntdata"/><Relationship Id="rId24" Type="http://schemas.openxmlformats.org/officeDocument/2006/relationships/font" Target="fonts/OpenSans-regular.fntdata"/><Relationship Id="rId23" Type="http://schemas.openxmlformats.org/officeDocument/2006/relationships/font" Target="fonts/SquadaOne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OpenSans-italic.fntdata"/><Relationship Id="rId25" Type="http://schemas.openxmlformats.org/officeDocument/2006/relationships/font" Target="fonts/OpenSans-bold.fntdata"/><Relationship Id="rId28" Type="http://customschemas.google.com/relationships/presentationmetadata" Target="metadata"/><Relationship Id="rId27" Type="http://schemas.openxmlformats.org/officeDocument/2006/relationships/font" Target="fonts/OpenSans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2e5747e58bd_0_4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" name="Google Shape;68;g2e5747e58bd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27386d9d961_1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g27386d9d961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276d10ac81b_0_11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g276d10ac81b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276d10ac81b_0_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g276d10ac81b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276d10ac81b_0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g276d10ac81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n"/>
              <a:t>Corn, Celery, Sulphites and more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27386d9d961_1_1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g27386d9d961_1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27386d9d961_1_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g27386d9d961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276d962688a_0_1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g276d962688a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2738b4021cc_0_3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g2738b4021cc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7386d9d961_1_2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g27386d9d961_1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7386d9d961_1_3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g27386d9d961_1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27386d9d961_1_1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g27386d9d961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27386d9d961_1_5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" name="Google Shape;186;g27386d9d961_1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6" name="Google Shape;196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2"/>
          <p:cNvSpPr txBox="1"/>
          <p:nvPr>
            <p:ph type="ctrTitle"/>
          </p:nvPr>
        </p:nvSpPr>
        <p:spPr>
          <a:xfrm>
            <a:off x="1700185" y="1991850"/>
            <a:ext cx="5807400" cy="115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800"/>
              <a:buNone/>
              <a:defRPr b="1" sz="5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800"/>
              <a:buNone/>
              <a:defRPr b="1" sz="5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800"/>
              <a:buNone/>
              <a:defRPr b="1" sz="5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800"/>
              <a:buNone/>
              <a:defRPr b="1" sz="5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800"/>
              <a:buNone/>
              <a:defRPr b="1" sz="5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800"/>
              <a:buNone/>
              <a:defRPr b="1" sz="5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800"/>
              <a:buNone/>
              <a:defRPr b="1" sz="5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800"/>
              <a:buNone/>
              <a:defRPr b="1" sz="5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800"/>
              <a:buNone/>
              <a:defRPr b="1" sz="5800"/>
            </a:lvl9pPr>
          </a:lstStyle>
          <a:p/>
        </p:txBody>
      </p:sp>
      <p:sp>
        <p:nvSpPr>
          <p:cNvPr id="11" name="Google Shape;11;p42"/>
          <p:cNvSpPr/>
          <p:nvPr/>
        </p:nvSpPr>
        <p:spPr>
          <a:xfrm>
            <a:off x="7337531" y="4630074"/>
            <a:ext cx="96300" cy="960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42"/>
          <p:cNvSpPr/>
          <p:nvPr/>
        </p:nvSpPr>
        <p:spPr>
          <a:xfrm>
            <a:off x="7790243" y="4182401"/>
            <a:ext cx="96300" cy="960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42"/>
          <p:cNvSpPr/>
          <p:nvPr/>
        </p:nvSpPr>
        <p:spPr>
          <a:xfrm>
            <a:off x="8893253" y="3333348"/>
            <a:ext cx="57600" cy="576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42"/>
          <p:cNvSpPr/>
          <p:nvPr/>
        </p:nvSpPr>
        <p:spPr>
          <a:xfrm>
            <a:off x="8771302" y="4923775"/>
            <a:ext cx="96300" cy="960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42"/>
          <p:cNvSpPr/>
          <p:nvPr/>
        </p:nvSpPr>
        <p:spPr>
          <a:xfrm>
            <a:off x="2386266" y="508134"/>
            <a:ext cx="96300" cy="960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42"/>
          <p:cNvSpPr/>
          <p:nvPr/>
        </p:nvSpPr>
        <p:spPr>
          <a:xfrm>
            <a:off x="479460" y="2703980"/>
            <a:ext cx="96300" cy="960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42"/>
          <p:cNvSpPr/>
          <p:nvPr/>
        </p:nvSpPr>
        <p:spPr>
          <a:xfrm>
            <a:off x="261540" y="643097"/>
            <a:ext cx="96300" cy="960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42"/>
          <p:cNvSpPr/>
          <p:nvPr/>
        </p:nvSpPr>
        <p:spPr>
          <a:xfrm>
            <a:off x="507235" y="1080863"/>
            <a:ext cx="192600" cy="192300"/>
          </a:xfrm>
          <a:prstGeom prst="ellipse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42"/>
          <p:cNvSpPr/>
          <p:nvPr/>
        </p:nvSpPr>
        <p:spPr>
          <a:xfrm>
            <a:off x="8314019" y="3625322"/>
            <a:ext cx="144300" cy="144000"/>
          </a:xfrm>
          <a:prstGeom prst="ellipse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42"/>
          <p:cNvSpPr/>
          <p:nvPr/>
        </p:nvSpPr>
        <p:spPr>
          <a:xfrm>
            <a:off x="8882858" y="4186761"/>
            <a:ext cx="144300" cy="144000"/>
          </a:xfrm>
          <a:prstGeom prst="ellipse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42"/>
          <p:cNvSpPr/>
          <p:nvPr/>
        </p:nvSpPr>
        <p:spPr>
          <a:xfrm>
            <a:off x="158313" y="1596559"/>
            <a:ext cx="57600" cy="576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42"/>
          <p:cNvSpPr/>
          <p:nvPr/>
        </p:nvSpPr>
        <p:spPr>
          <a:xfrm>
            <a:off x="1396483" y="226428"/>
            <a:ext cx="192600" cy="192300"/>
          </a:xfrm>
          <a:prstGeom prst="ellipse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42"/>
          <p:cNvSpPr/>
          <p:nvPr/>
        </p:nvSpPr>
        <p:spPr>
          <a:xfrm>
            <a:off x="617492" y="2000594"/>
            <a:ext cx="57600" cy="576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42"/>
          <p:cNvSpPr/>
          <p:nvPr/>
        </p:nvSpPr>
        <p:spPr>
          <a:xfrm>
            <a:off x="3425273" y="387880"/>
            <a:ext cx="57600" cy="576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42"/>
          <p:cNvSpPr/>
          <p:nvPr/>
        </p:nvSpPr>
        <p:spPr>
          <a:xfrm>
            <a:off x="8014029" y="4567546"/>
            <a:ext cx="192600" cy="192300"/>
          </a:xfrm>
          <a:prstGeom prst="ellipse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1 column" type="tx">
  <p:cSld name="TITLE_AND_BOD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7"/>
          <p:cNvSpPr txBox="1"/>
          <p:nvPr>
            <p:ph type="title"/>
          </p:nvPr>
        </p:nvSpPr>
        <p:spPr>
          <a:xfrm>
            <a:off x="786150" y="308120"/>
            <a:ext cx="7571700" cy="70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28" name="Google Shape;28;p47"/>
          <p:cNvSpPr txBox="1"/>
          <p:nvPr>
            <p:ph idx="1" type="body"/>
          </p:nvPr>
        </p:nvSpPr>
        <p:spPr>
          <a:xfrm>
            <a:off x="786150" y="1261700"/>
            <a:ext cx="7571700" cy="35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◎"/>
              <a:defRPr sz="2400"/>
            </a:lvl1pPr>
            <a:lvl2pPr indent="-3810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◉"/>
              <a:defRPr/>
            </a:lvl3pPr>
            <a:lvl4pPr indent="-3810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indent="-3810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indent="-3810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indent="-3810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indent="-3810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indent="-3810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29" name="Google Shape;29;p47"/>
          <p:cNvSpPr txBox="1"/>
          <p:nvPr>
            <p:ph idx="12" type="sldNum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title">
  <p:cSld name="TITLE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5"/>
          <p:cNvSpPr txBox="1"/>
          <p:nvPr>
            <p:ph type="ctrTitle"/>
          </p:nvPr>
        </p:nvSpPr>
        <p:spPr>
          <a:xfrm>
            <a:off x="1546025" y="1754794"/>
            <a:ext cx="5832600" cy="11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b="1" sz="4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b="1" sz="4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b="1" sz="4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b="1" sz="4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b="1" sz="4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b="1" sz="4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b="1" sz="4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b="1" sz="4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b="1" sz="4400"/>
            </a:lvl9pPr>
          </a:lstStyle>
          <a:p/>
        </p:txBody>
      </p:sp>
      <p:sp>
        <p:nvSpPr>
          <p:cNvPr id="32" name="Google Shape;32;p45"/>
          <p:cNvSpPr txBox="1"/>
          <p:nvPr>
            <p:ph idx="1" type="subTitle"/>
          </p:nvPr>
        </p:nvSpPr>
        <p:spPr>
          <a:xfrm>
            <a:off x="1546025" y="3011511"/>
            <a:ext cx="5832600" cy="7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2 columns" type="twoColTx">
  <p:cSld name="TITLE_AND_TWO_COLUMN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3"/>
          <p:cNvSpPr txBox="1"/>
          <p:nvPr>
            <p:ph type="title"/>
          </p:nvPr>
        </p:nvSpPr>
        <p:spPr>
          <a:xfrm>
            <a:off x="786150" y="308120"/>
            <a:ext cx="7571700" cy="70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35" name="Google Shape;35;p43"/>
          <p:cNvSpPr txBox="1"/>
          <p:nvPr>
            <p:ph idx="1" type="body"/>
          </p:nvPr>
        </p:nvSpPr>
        <p:spPr>
          <a:xfrm>
            <a:off x="786137" y="1200150"/>
            <a:ext cx="3675300" cy="37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Char char="◎"/>
              <a:defRPr sz="2000"/>
            </a:lvl1pPr>
            <a:lvl2pPr indent="-355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2pPr>
            <a:lvl3pPr indent="-355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◉"/>
              <a:defRPr sz="2000"/>
            </a:lvl3pPr>
            <a:lvl4pPr indent="-355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9pPr>
          </a:lstStyle>
          <a:p/>
        </p:txBody>
      </p:sp>
      <p:sp>
        <p:nvSpPr>
          <p:cNvPr id="36" name="Google Shape;36;p43"/>
          <p:cNvSpPr txBox="1"/>
          <p:nvPr>
            <p:ph idx="2" type="body"/>
          </p:nvPr>
        </p:nvSpPr>
        <p:spPr>
          <a:xfrm>
            <a:off x="4682659" y="1200150"/>
            <a:ext cx="3675300" cy="37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Char char="◎"/>
              <a:defRPr sz="2000"/>
            </a:lvl1pPr>
            <a:lvl2pPr indent="-355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2pPr>
            <a:lvl3pPr indent="-355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◉"/>
              <a:defRPr sz="2000"/>
            </a:lvl3pPr>
            <a:lvl4pPr indent="-355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9pPr>
          </a:lstStyle>
          <a:p/>
        </p:txBody>
      </p:sp>
      <p:sp>
        <p:nvSpPr>
          <p:cNvPr id="37" name="Google Shape;37;p43"/>
          <p:cNvSpPr txBox="1"/>
          <p:nvPr>
            <p:ph idx="12" type="sldNum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3 columns">
  <p:cSld name="TITLE_AND_TWO_COLUMNS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48"/>
          <p:cNvSpPr txBox="1"/>
          <p:nvPr>
            <p:ph type="title"/>
          </p:nvPr>
        </p:nvSpPr>
        <p:spPr>
          <a:xfrm>
            <a:off x="786150" y="308120"/>
            <a:ext cx="7571700" cy="70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40" name="Google Shape;40;p48"/>
          <p:cNvSpPr txBox="1"/>
          <p:nvPr>
            <p:ph idx="1" type="body"/>
          </p:nvPr>
        </p:nvSpPr>
        <p:spPr>
          <a:xfrm>
            <a:off x="786150" y="1200150"/>
            <a:ext cx="2419800" cy="37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◎"/>
              <a:defRPr sz="1800"/>
            </a:lvl1pPr>
            <a:lvl2pPr indent="-3429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2pPr>
            <a:lvl3pPr indent="-3429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◉"/>
              <a:defRPr sz="1800"/>
            </a:lvl3pPr>
            <a:lvl4pPr indent="-3429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41" name="Google Shape;41;p48"/>
          <p:cNvSpPr txBox="1"/>
          <p:nvPr>
            <p:ph idx="2" type="body"/>
          </p:nvPr>
        </p:nvSpPr>
        <p:spPr>
          <a:xfrm>
            <a:off x="3329992" y="1200150"/>
            <a:ext cx="2419800" cy="37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◎"/>
              <a:defRPr sz="1800"/>
            </a:lvl1pPr>
            <a:lvl2pPr indent="-3429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2pPr>
            <a:lvl3pPr indent="-3429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◉"/>
              <a:defRPr sz="1800"/>
            </a:lvl3pPr>
            <a:lvl4pPr indent="-3429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42" name="Google Shape;42;p48"/>
          <p:cNvSpPr txBox="1"/>
          <p:nvPr>
            <p:ph idx="3" type="body"/>
          </p:nvPr>
        </p:nvSpPr>
        <p:spPr>
          <a:xfrm>
            <a:off x="5873834" y="1200150"/>
            <a:ext cx="2419800" cy="37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◎"/>
              <a:defRPr sz="1800"/>
            </a:lvl1pPr>
            <a:lvl2pPr indent="-3429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2pPr>
            <a:lvl3pPr indent="-3429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◉"/>
              <a:defRPr sz="1800"/>
            </a:lvl3pPr>
            <a:lvl4pPr indent="-3429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43" name="Google Shape;43;p48"/>
          <p:cNvSpPr txBox="1"/>
          <p:nvPr>
            <p:ph idx="12" type="sldNum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44"/>
          <p:cNvSpPr txBox="1"/>
          <p:nvPr>
            <p:ph idx="12" type="sldNum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TITLE_1_1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Google Shape;47;p46"/>
          <p:cNvPicPr preferRelativeResize="0"/>
          <p:nvPr/>
        </p:nvPicPr>
        <p:blipFill rotWithShape="1">
          <a:blip r:embed="rId2">
            <a:alphaModFix/>
          </a:blip>
          <a:srcRect b="0" l="19" r="19" t="0"/>
          <a:stretch/>
        </p:blipFill>
        <p:spPr>
          <a:xfrm flipH="1" rot="10800000">
            <a:off x="5952" y="0"/>
            <a:ext cx="914060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46"/>
          <p:cNvSpPr txBox="1"/>
          <p:nvPr>
            <p:ph idx="1" type="body"/>
          </p:nvPr>
        </p:nvSpPr>
        <p:spPr>
          <a:xfrm>
            <a:off x="1215300" y="1723650"/>
            <a:ext cx="6713400" cy="8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57200" lvl="0" marL="4572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600"/>
              <a:buChar char="◎"/>
              <a:defRPr i="1" sz="3600"/>
            </a:lvl1pPr>
            <a:lvl2pPr indent="-4572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Char char="○"/>
              <a:defRPr i="1" sz="3600"/>
            </a:lvl2pPr>
            <a:lvl3pPr indent="-4572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Char char="◉"/>
              <a:defRPr i="1" sz="3600"/>
            </a:lvl3pPr>
            <a:lvl4pPr indent="-4572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 i="1" sz="3600"/>
            </a:lvl4pPr>
            <a:lvl5pPr indent="-4572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Char char="○"/>
              <a:defRPr i="1" sz="3600"/>
            </a:lvl5pPr>
            <a:lvl6pPr indent="-457200" lvl="5" marL="2743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Char char="■"/>
              <a:defRPr i="1" sz="3600"/>
            </a:lvl6pPr>
            <a:lvl7pPr indent="-457200" lvl="6" marL="3200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 i="1" sz="3600"/>
            </a:lvl7pPr>
            <a:lvl8pPr indent="-457200" lvl="7" marL="3657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Char char="○"/>
              <a:defRPr i="1" sz="3600"/>
            </a:lvl8pPr>
            <a:lvl9pPr indent="-457200" lvl="8" marL="411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Char char="■"/>
              <a:defRPr i="1" sz="3600"/>
            </a:lvl9pPr>
          </a:lstStyle>
          <a:p/>
        </p:txBody>
      </p:sp>
      <p:grpSp>
        <p:nvGrpSpPr>
          <p:cNvPr id="49" name="Google Shape;49;p46"/>
          <p:cNvGrpSpPr/>
          <p:nvPr/>
        </p:nvGrpSpPr>
        <p:grpSpPr>
          <a:xfrm>
            <a:off x="3839646" y="782918"/>
            <a:ext cx="1464573" cy="842707"/>
            <a:chOff x="3593400" y="1729675"/>
            <a:chExt cx="1957200" cy="1123610"/>
          </a:xfrm>
        </p:grpSpPr>
        <p:sp>
          <p:nvSpPr>
            <p:cNvPr id="50" name="Google Shape;50;p46"/>
            <p:cNvSpPr txBox="1"/>
            <p:nvPr/>
          </p:nvSpPr>
          <p:spPr>
            <a:xfrm>
              <a:off x="3593400" y="1729675"/>
              <a:ext cx="1957200" cy="8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0"/>
                <a:buFont typeface="Arial"/>
                <a:buNone/>
              </a:pPr>
              <a:r>
                <a:rPr b="1" i="0" lang="en" sz="6000" u="none" cap="none" strike="noStrike">
                  <a:solidFill>
                    <a:schemeClr val="accent1"/>
                  </a:solidFill>
                  <a:latin typeface="Arial"/>
                  <a:ea typeface="Arial"/>
                  <a:cs typeface="Arial"/>
                  <a:sym typeface="Arial"/>
                </a:rPr>
                <a:t>“</a:t>
              </a:r>
              <a:endParaRPr b="1" i="0" sz="6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46"/>
            <p:cNvSpPr/>
            <p:nvPr/>
          </p:nvSpPr>
          <p:spPr>
            <a:xfrm>
              <a:off x="4025400" y="1760085"/>
              <a:ext cx="1093200" cy="1093200"/>
            </a:xfrm>
            <a:prstGeom prst="ellipse">
              <a:avLst/>
            </a:prstGeom>
            <a:noFill/>
            <a:ln cap="flat" cmpd="sng" w="9525">
              <a:solidFill>
                <a:srgbClr val="CFD8DC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" name="Google Shape;52;p46"/>
            <p:cNvSpPr/>
            <p:nvPr/>
          </p:nvSpPr>
          <p:spPr>
            <a:xfrm>
              <a:off x="4190700" y="1925385"/>
              <a:ext cx="762600" cy="762600"/>
            </a:xfrm>
            <a:prstGeom prst="ellipse">
              <a:avLst/>
            </a:prstGeom>
            <a:noFill/>
            <a:ln cap="flat" cmpd="sng" w="19050">
              <a:solidFill>
                <a:srgbClr val="CFD8D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3" name="Google Shape;53;p46"/>
          <p:cNvCxnSpPr>
            <a:endCxn id="51" idx="1"/>
          </p:cNvCxnSpPr>
          <p:nvPr/>
        </p:nvCxnSpPr>
        <p:spPr>
          <a:xfrm>
            <a:off x="3750511" y="390297"/>
            <a:ext cx="532200" cy="535500"/>
          </a:xfrm>
          <a:prstGeom prst="straightConnector1">
            <a:avLst/>
          </a:prstGeom>
          <a:noFill/>
          <a:ln cap="flat" cmpd="sng" w="9525">
            <a:solidFill>
              <a:srgbClr val="CFD8D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4" name="Google Shape;54;p46"/>
          <p:cNvCxnSpPr/>
          <p:nvPr/>
        </p:nvCxnSpPr>
        <p:spPr>
          <a:xfrm rot="10800000">
            <a:off x="4362902" y="436125"/>
            <a:ext cx="209100" cy="369600"/>
          </a:xfrm>
          <a:prstGeom prst="straightConnector1">
            <a:avLst/>
          </a:prstGeom>
          <a:noFill/>
          <a:ln cap="flat" cmpd="sng" w="9525">
            <a:solidFill>
              <a:srgbClr val="CFD8D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5" name="Google Shape;55;p46"/>
          <p:cNvCxnSpPr/>
          <p:nvPr/>
        </p:nvCxnSpPr>
        <p:spPr>
          <a:xfrm flipH="1" rot="10800000">
            <a:off x="4704510" y="351930"/>
            <a:ext cx="347100" cy="474600"/>
          </a:xfrm>
          <a:prstGeom prst="straightConnector1">
            <a:avLst/>
          </a:prstGeom>
          <a:noFill/>
          <a:ln cap="flat" cmpd="sng" w="9525">
            <a:solidFill>
              <a:srgbClr val="CFD8D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6" name="Google Shape;56;p46"/>
          <p:cNvSpPr txBox="1"/>
          <p:nvPr>
            <p:ph idx="12" type="sldNum"/>
          </p:nvPr>
        </p:nvSpPr>
        <p:spPr>
          <a:xfrm>
            <a:off x="-87" y="4749844"/>
            <a:ext cx="9144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9"/>
          <p:cNvSpPr txBox="1"/>
          <p:nvPr>
            <p:ph type="title"/>
          </p:nvPr>
        </p:nvSpPr>
        <p:spPr>
          <a:xfrm>
            <a:off x="786150" y="308120"/>
            <a:ext cx="7571700" cy="70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59" name="Google Shape;59;p49"/>
          <p:cNvSpPr txBox="1"/>
          <p:nvPr>
            <p:ph idx="12" type="sldNum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complete pattern">
  <p:cSld name="BLANK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50"/>
          <p:cNvSpPr/>
          <p:nvPr/>
        </p:nvSpPr>
        <p:spPr>
          <a:xfrm>
            <a:off x="-26550" y="-14850"/>
            <a:ext cx="9197100" cy="5173200"/>
          </a:xfrm>
          <a:prstGeom prst="rect">
            <a:avLst/>
          </a:prstGeom>
          <a:solidFill>
            <a:srgbClr val="CFD8DC">
              <a:alpha val="4862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50"/>
          <p:cNvSpPr txBox="1"/>
          <p:nvPr>
            <p:ph idx="12" type="sldNum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51"/>
          <p:cNvSpPr txBox="1"/>
          <p:nvPr>
            <p:ph idx="1" type="body"/>
          </p:nvPr>
        </p:nvSpPr>
        <p:spPr>
          <a:xfrm>
            <a:off x="457200" y="4055343"/>
            <a:ext cx="8229600" cy="36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sz="1800"/>
            </a:lvl1pPr>
          </a:lstStyle>
          <a:p/>
        </p:txBody>
      </p:sp>
      <p:sp>
        <p:nvSpPr>
          <p:cNvPr id="65" name="Google Shape;65;p51"/>
          <p:cNvSpPr txBox="1"/>
          <p:nvPr>
            <p:ph idx="12" type="sldNum"/>
          </p:nvPr>
        </p:nvSpPr>
        <p:spPr>
          <a:xfrm>
            <a:off x="-92" y="4749844"/>
            <a:ext cx="9144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1"/>
          <p:cNvSpPr txBox="1"/>
          <p:nvPr>
            <p:ph type="title"/>
          </p:nvPr>
        </p:nvSpPr>
        <p:spPr>
          <a:xfrm>
            <a:off x="786150" y="308120"/>
            <a:ext cx="7571700" cy="70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b="0" i="0" sz="2000" u="none" cap="none" strike="noStrik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b="0" i="0" sz="2000" u="none" cap="none" strike="noStrik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b="0" i="0" sz="2000" u="none" cap="none" strike="noStrik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b="0" i="0" sz="2000" u="none" cap="none" strike="noStrik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b="0" i="0" sz="2000" u="none" cap="none" strike="noStrik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b="0" i="0" sz="2000" u="none" cap="none" strike="noStrik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b="0" i="0" sz="2000" u="none" cap="none" strike="noStrik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b="0" i="0" sz="2000" u="none" cap="none" strike="noStrik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b="0" i="0" sz="2000" u="none" cap="none" strike="noStrik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7" name="Google Shape;7;p41"/>
          <p:cNvSpPr txBox="1"/>
          <p:nvPr>
            <p:ph idx="1" type="body"/>
          </p:nvPr>
        </p:nvSpPr>
        <p:spPr>
          <a:xfrm>
            <a:off x="786150" y="1261700"/>
            <a:ext cx="7571700" cy="35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Arial"/>
              <a:buChar char="◎"/>
              <a:defRPr b="0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Arial"/>
              <a:buChar char="○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Arial"/>
              <a:buChar char="◉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41"/>
          <p:cNvSpPr txBox="1"/>
          <p:nvPr>
            <p:ph idx="12" type="sldNum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latin typeface="Roboto Slab"/>
              <a:ea typeface="Roboto Slab"/>
              <a:cs typeface="Roboto Slab"/>
              <a:sym typeface="Roboto Slab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transition>
    <p:fade thruBlk="1"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2e5747e58bd_0_47"/>
          <p:cNvSpPr txBox="1"/>
          <p:nvPr>
            <p:ph type="ctrTitle"/>
          </p:nvPr>
        </p:nvSpPr>
        <p:spPr>
          <a:xfrm>
            <a:off x="1668310" y="1176450"/>
            <a:ext cx="5807400" cy="115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800"/>
              <a:buNone/>
            </a:pPr>
            <a:r>
              <a:rPr lang="en"/>
              <a:t>Allergy-Safe Recipe Scanner</a:t>
            </a:r>
            <a:endParaRPr/>
          </a:p>
        </p:txBody>
      </p:sp>
      <p:pic>
        <p:nvPicPr>
          <p:cNvPr id="71" name="Google Shape;71;g2e5747e58bd_0_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89924" y="0"/>
            <a:ext cx="2054075" cy="137545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g2e5747e58bd_0_47"/>
          <p:cNvSpPr txBox="1"/>
          <p:nvPr>
            <p:ph idx="4294967295" type="body"/>
          </p:nvPr>
        </p:nvSpPr>
        <p:spPr>
          <a:xfrm>
            <a:off x="2517300" y="2760400"/>
            <a:ext cx="5214900" cy="20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en" sz="1800"/>
              <a:t>Group name: </a:t>
            </a:r>
            <a:r>
              <a:rPr b="1" lang="en" sz="1800"/>
              <a:t>The Unnamed</a:t>
            </a:r>
            <a:endParaRPr b="1" sz="1800"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en" sz="1800"/>
              <a:t>Eric Middlekamp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en" sz="1800"/>
              <a:t>Daeyong Jung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en" sz="1800"/>
              <a:t>Hamoud Alhazmi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en" sz="1800"/>
              <a:t>Wenyu Wang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b="1" lang="en" sz="1800">
                <a:solidFill>
                  <a:schemeClr val="accent1"/>
                </a:solidFill>
              </a:rPr>
              <a:t>Timebox 3 - July 09, 2024</a:t>
            </a:r>
            <a:endParaRPr b="1" sz="1800">
              <a:solidFill>
                <a:schemeClr val="accen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27386d9d961_1_0"/>
          <p:cNvSpPr txBox="1"/>
          <p:nvPr>
            <p:ph type="title"/>
          </p:nvPr>
        </p:nvSpPr>
        <p:spPr>
          <a:xfrm>
            <a:off x="786150" y="308120"/>
            <a:ext cx="7571700" cy="70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 sz="3000"/>
              <a:t>Overview</a:t>
            </a:r>
            <a:endParaRPr sz="3000"/>
          </a:p>
        </p:txBody>
      </p:sp>
      <p:sp>
        <p:nvSpPr>
          <p:cNvPr id="78" name="Google Shape;78;g27386d9d961_1_0"/>
          <p:cNvSpPr txBox="1"/>
          <p:nvPr>
            <p:ph idx="1" type="body"/>
          </p:nvPr>
        </p:nvSpPr>
        <p:spPr>
          <a:xfrm>
            <a:off x="786150" y="1261700"/>
            <a:ext cx="7571700" cy="35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lnSpc>
                <a:spcPct val="200000"/>
              </a:lnSpc>
              <a:spcBef>
                <a:spcPts val="600"/>
              </a:spcBef>
              <a:spcAft>
                <a:spcPts val="0"/>
              </a:spcAft>
              <a:buSzPts val="2200"/>
              <a:buChar char="◎"/>
            </a:pPr>
            <a:r>
              <a:rPr lang="en" sz="2200"/>
              <a:t>Hamoud - Dataset, Structure, Next Steps</a:t>
            </a:r>
            <a:endParaRPr sz="2200"/>
          </a:p>
          <a:p>
            <a:pPr indent="-3683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200"/>
              <a:buChar char="◎"/>
            </a:pPr>
            <a:r>
              <a:rPr lang="en" sz="2200"/>
              <a:t>Jung - </a:t>
            </a:r>
            <a:r>
              <a:rPr lang="en" sz="2200"/>
              <a:t>Backend updates</a:t>
            </a:r>
            <a:endParaRPr sz="2200"/>
          </a:p>
          <a:p>
            <a:pPr indent="-3683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200"/>
              <a:buChar char="◎"/>
            </a:pPr>
            <a:r>
              <a:rPr lang="en" sz="2200"/>
              <a:t>Eric - Application and Backend updates, What Next?</a:t>
            </a:r>
            <a:endParaRPr sz="2200"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sp>
        <p:nvSpPr>
          <p:cNvPr id="79" name="Google Shape;79;g27386d9d961_1_0"/>
          <p:cNvSpPr txBox="1"/>
          <p:nvPr>
            <p:ph idx="12" type="sldNum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4"/>
          <p:cNvSpPr txBox="1"/>
          <p:nvPr>
            <p:ph type="ctrTitle"/>
          </p:nvPr>
        </p:nvSpPr>
        <p:spPr>
          <a:xfrm>
            <a:off x="1546025" y="1754794"/>
            <a:ext cx="5832600" cy="11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" sz="6000">
                <a:solidFill>
                  <a:schemeClr val="accent4"/>
                </a:solidFill>
              </a:rPr>
              <a:t>1.</a:t>
            </a:r>
            <a:endParaRPr sz="6000">
              <a:solidFill>
                <a:schemeClr val="accent4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"/>
              <a:t>Dataset</a:t>
            </a:r>
            <a:endParaRPr/>
          </a:p>
        </p:txBody>
      </p:sp>
      <p:sp>
        <p:nvSpPr>
          <p:cNvPr id="85" name="Google Shape;85;p4"/>
          <p:cNvSpPr txBox="1"/>
          <p:nvPr>
            <p:ph idx="4294967295" type="sldNum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276d10ac81b_0_11"/>
          <p:cNvSpPr txBox="1"/>
          <p:nvPr>
            <p:ph type="title"/>
          </p:nvPr>
        </p:nvSpPr>
        <p:spPr>
          <a:xfrm>
            <a:off x="786150" y="243570"/>
            <a:ext cx="7571700" cy="70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 sz="3000"/>
              <a:t>Dataset</a:t>
            </a:r>
            <a:endParaRPr sz="3000"/>
          </a:p>
        </p:txBody>
      </p:sp>
      <p:sp>
        <p:nvSpPr>
          <p:cNvPr id="91" name="Google Shape;91;g276d10ac81b_0_11"/>
          <p:cNvSpPr txBox="1"/>
          <p:nvPr>
            <p:ph idx="1" type="body"/>
          </p:nvPr>
        </p:nvSpPr>
        <p:spPr>
          <a:xfrm>
            <a:off x="786150" y="979025"/>
            <a:ext cx="7571700" cy="35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</a:pPr>
            <a:r>
              <a:rPr lang="en" sz="2100"/>
              <a:t>Common Allergens in burgers:</a:t>
            </a:r>
            <a:endParaRPr sz="2100"/>
          </a:p>
          <a:p>
            <a:pPr indent="-3619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◎"/>
            </a:pPr>
            <a:r>
              <a:rPr lang="en" sz="2100"/>
              <a:t>Dairy</a:t>
            </a:r>
            <a:endParaRPr sz="2100"/>
          </a:p>
          <a:p>
            <a:pPr indent="-3619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◎"/>
            </a:pPr>
            <a:r>
              <a:rPr lang="en" sz="2100"/>
              <a:t>Gluten</a:t>
            </a:r>
            <a:endParaRPr sz="2100"/>
          </a:p>
          <a:p>
            <a:pPr indent="-3619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◎"/>
            </a:pPr>
            <a:r>
              <a:rPr lang="en" sz="2100"/>
              <a:t>Egg</a:t>
            </a:r>
            <a:endParaRPr sz="2100"/>
          </a:p>
          <a:p>
            <a:pPr indent="-3619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◎"/>
            </a:pPr>
            <a:r>
              <a:rPr lang="en" sz="2100"/>
              <a:t>Soy</a:t>
            </a:r>
            <a:endParaRPr sz="2100"/>
          </a:p>
          <a:p>
            <a:pPr indent="-3619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◎"/>
            </a:pPr>
            <a:r>
              <a:rPr lang="en" sz="2100"/>
              <a:t>Sesame</a:t>
            </a:r>
            <a:endParaRPr sz="2100"/>
          </a:p>
          <a:p>
            <a:pPr indent="-3619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◎"/>
            </a:pPr>
            <a:r>
              <a:rPr lang="en" sz="2100"/>
              <a:t>Nut</a:t>
            </a:r>
            <a:endParaRPr sz="2100"/>
          </a:p>
          <a:p>
            <a:pPr indent="-3619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◎"/>
            </a:pPr>
            <a:r>
              <a:rPr lang="en" sz="2100"/>
              <a:t>Peanut</a:t>
            </a:r>
            <a:endParaRPr sz="2100"/>
          </a:p>
          <a:p>
            <a:pPr indent="-3619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◎"/>
            </a:pPr>
            <a:r>
              <a:rPr lang="en" sz="2100"/>
              <a:t>Fish</a:t>
            </a:r>
            <a:endParaRPr sz="2100"/>
          </a:p>
          <a:p>
            <a:pPr indent="-3619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◎"/>
            </a:pPr>
            <a:r>
              <a:rPr lang="en" sz="2100"/>
              <a:t>Mustard</a:t>
            </a:r>
            <a:endParaRPr sz="2100"/>
          </a:p>
        </p:txBody>
      </p:sp>
      <p:sp>
        <p:nvSpPr>
          <p:cNvPr id="92" name="Google Shape;92;g276d10ac81b_0_11"/>
          <p:cNvSpPr txBox="1"/>
          <p:nvPr>
            <p:ph idx="12" type="sldNum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3" name="Google Shape;93;g276d10ac81b_0_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71324" y="1475525"/>
            <a:ext cx="4832349" cy="2760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76d10ac81b_0_6"/>
          <p:cNvSpPr txBox="1"/>
          <p:nvPr>
            <p:ph type="title"/>
          </p:nvPr>
        </p:nvSpPr>
        <p:spPr>
          <a:xfrm>
            <a:off x="624838" y="159695"/>
            <a:ext cx="7571700" cy="70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 sz="3000"/>
              <a:t>How did we structure the dataset?</a:t>
            </a:r>
            <a:endParaRPr sz="3000"/>
          </a:p>
        </p:txBody>
      </p:sp>
      <p:sp>
        <p:nvSpPr>
          <p:cNvPr id="99" name="Google Shape;99;g276d10ac81b_0_6"/>
          <p:cNvSpPr txBox="1"/>
          <p:nvPr>
            <p:ph idx="12" type="sldNum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0" name="Google Shape;100;g276d10ac81b_0_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43050" y="862298"/>
            <a:ext cx="2385150" cy="1887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g276d10ac81b_0_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38750" y="862298"/>
            <a:ext cx="2743722" cy="1887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g276d10ac81b_0_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43050" y="2908675"/>
            <a:ext cx="2385150" cy="1834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g276d10ac81b_0_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038750" y="2908675"/>
            <a:ext cx="2743725" cy="14085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276d10ac81b_0_0"/>
          <p:cNvSpPr txBox="1"/>
          <p:nvPr>
            <p:ph type="title"/>
          </p:nvPr>
        </p:nvSpPr>
        <p:spPr>
          <a:xfrm>
            <a:off x="786150" y="308120"/>
            <a:ext cx="7571700" cy="70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 sz="3000"/>
              <a:t>Next Steps</a:t>
            </a:r>
            <a:endParaRPr sz="3000"/>
          </a:p>
        </p:txBody>
      </p:sp>
      <p:sp>
        <p:nvSpPr>
          <p:cNvPr id="109" name="Google Shape;109;g276d10ac81b_0_0"/>
          <p:cNvSpPr txBox="1"/>
          <p:nvPr>
            <p:ph idx="1" type="body"/>
          </p:nvPr>
        </p:nvSpPr>
        <p:spPr>
          <a:xfrm>
            <a:off x="786150" y="1176250"/>
            <a:ext cx="7571700" cy="35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</a:pPr>
            <a:r>
              <a:rPr lang="en" sz="2100"/>
              <a:t>Near future</a:t>
            </a:r>
            <a:r>
              <a:rPr lang="en" sz="2100"/>
              <a:t>:</a:t>
            </a:r>
            <a:endParaRPr sz="2100"/>
          </a:p>
          <a:p>
            <a:pPr indent="-3619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◎"/>
            </a:pPr>
            <a:r>
              <a:rPr lang="en" sz="2100"/>
              <a:t>Add more burger allergens (especially less common ones)</a:t>
            </a:r>
            <a:endParaRPr sz="2100"/>
          </a:p>
          <a:p>
            <a:pPr indent="-3619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○"/>
            </a:pPr>
            <a:r>
              <a:rPr lang="en" sz="2100"/>
              <a:t>There are over 18 </a:t>
            </a:r>
            <a:r>
              <a:rPr lang="en" sz="2100"/>
              <a:t>allergens</a:t>
            </a:r>
            <a:r>
              <a:rPr lang="en" sz="2100"/>
              <a:t> in burgers</a:t>
            </a:r>
            <a:endParaRPr sz="21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2100"/>
              <a:t>Far in the future:</a:t>
            </a:r>
            <a:endParaRPr sz="21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◎"/>
            </a:pPr>
            <a:r>
              <a:rPr lang="en" sz="2100"/>
              <a:t>Include allergens that are not limited to just burgers</a:t>
            </a:r>
            <a:endParaRPr sz="2100"/>
          </a:p>
          <a:p>
            <a:pPr indent="-361950" lvl="0" marL="457200" rtl="0" algn="l">
              <a:spcBef>
                <a:spcPts val="600"/>
              </a:spcBef>
              <a:spcAft>
                <a:spcPts val="0"/>
              </a:spcAft>
              <a:buSzPts val="2100"/>
              <a:buChar char="◎"/>
            </a:pPr>
            <a:r>
              <a:rPr lang="en" sz="2100"/>
              <a:t>Include ingredients in burgers that people dislike, even if they are not necessarily allergic to them</a:t>
            </a:r>
            <a:endParaRPr sz="2100"/>
          </a:p>
          <a:p>
            <a:pPr indent="-361950" lvl="1" marL="914400" rtl="0" algn="l">
              <a:spcBef>
                <a:spcPts val="0"/>
              </a:spcBef>
              <a:spcAft>
                <a:spcPts val="0"/>
              </a:spcAft>
              <a:buSzPts val="2100"/>
              <a:buChar char="○"/>
            </a:pPr>
            <a:r>
              <a:rPr lang="en" sz="2100"/>
              <a:t>E.g., pickles, tomato slices, raw onions etc…</a:t>
            </a:r>
            <a:endParaRPr sz="2100"/>
          </a:p>
        </p:txBody>
      </p:sp>
      <p:sp>
        <p:nvSpPr>
          <p:cNvPr id="110" name="Google Shape;110;g276d10ac81b_0_0"/>
          <p:cNvSpPr txBox="1"/>
          <p:nvPr>
            <p:ph idx="12" type="sldNum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27386d9d961_1_18"/>
          <p:cNvSpPr txBox="1"/>
          <p:nvPr>
            <p:ph type="ctrTitle"/>
          </p:nvPr>
        </p:nvSpPr>
        <p:spPr>
          <a:xfrm>
            <a:off x="1546025" y="1754794"/>
            <a:ext cx="5832600" cy="11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" sz="6000">
                <a:solidFill>
                  <a:schemeClr val="accent4"/>
                </a:solidFill>
              </a:rPr>
              <a:t>2.</a:t>
            </a:r>
            <a:endParaRPr sz="6000">
              <a:solidFill>
                <a:schemeClr val="accent4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"/>
              <a:t>Backend updates</a:t>
            </a:r>
            <a:endParaRPr/>
          </a:p>
        </p:txBody>
      </p:sp>
      <p:sp>
        <p:nvSpPr>
          <p:cNvPr id="116" name="Google Shape;116;g27386d9d961_1_18"/>
          <p:cNvSpPr txBox="1"/>
          <p:nvPr>
            <p:ph idx="4294967295" type="sldNum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27386d9d961_1_6"/>
          <p:cNvSpPr txBox="1"/>
          <p:nvPr/>
        </p:nvSpPr>
        <p:spPr>
          <a:xfrm>
            <a:off x="369100" y="180950"/>
            <a:ext cx="4050300" cy="845400"/>
          </a:xfrm>
          <a:prstGeom prst="rect">
            <a:avLst/>
          </a:prstGeom>
          <a:noFill/>
          <a:ln cap="flat" cmpd="sng" w="3810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Finds allergens in the recipe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g27386d9d961_1_6"/>
          <p:cNvSpPr txBox="1"/>
          <p:nvPr/>
        </p:nvSpPr>
        <p:spPr>
          <a:xfrm>
            <a:off x="369100" y="1356700"/>
            <a:ext cx="4050300" cy="3239700"/>
          </a:xfrm>
          <a:prstGeom prst="rect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46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2300"/>
              <a:buFont typeface="Calibri"/>
              <a:buChar char="●"/>
            </a:pPr>
            <a:r>
              <a:rPr lang="en" sz="2300">
                <a:solidFill>
                  <a:srgbClr val="980000"/>
                </a:solidFill>
                <a:latin typeface="Calibri"/>
                <a:ea typeface="Calibri"/>
                <a:cs typeface="Calibri"/>
                <a:sym typeface="Calibri"/>
              </a:rPr>
              <a:t>Finds sub-ingredients / </a:t>
            </a:r>
            <a:endParaRPr sz="2300">
              <a:solidFill>
                <a:srgbClr val="98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980000"/>
                </a:solidFill>
                <a:latin typeface="Calibri"/>
                <a:ea typeface="Calibri"/>
                <a:cs typeface="Calibri"/>
                <a:sym typeface="Calibri"/>
              </a:rPr>
              <a:t>child allergens </a:t>
            </a:r>
            <a:endParaRPr sz="2300">
              <a:solidFill>
                <a:srgbClr val="98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2300"/>
              <a:buFont typeface="Calibri"/>
              <a:buChar char="●"/>
            </a:pPr>
            <a:r>
              <a:rPr lang="en" sz="2300">
                <a:solidFill>
                  <a:srgbClr val="980000"/>
                </a:solidFill>
                <a:latin typeface="Calibri"/>
                <a:ea typeface="Calibri"/>
                <a:cs typeface="Calibri"/>
                <a:sym typeface="Calibri"/>
              </a:rPr>
              <a:t>Provides more information</a:t>
            </a:r>
            <a:endParaRPr sz="2300">
              <a:solidFill>
                <a:srgbClr val="98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Char char="●"/>
            </a:pPr>
            <a:r>
              <a:rPr lang="en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Finds parent ingredients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Char char="●"/>
            </a:pPr>
            <a:r>
              <a:rPr lang="en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Provides more option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Char char="●"/>
            </a:pPr>
            <a:r>
              <a:rPr lang="en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Reduce allergy risk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</a:endParaRPr>
          </a:p>
        </p:txBody>
      </p:sp>
      <p:sp>
        <p:nvSpPr>
          <p:cNvPr id="123" name="Google Shape;123;g27386d9d961_1_6"/>
          <p:cNvSpPr txBox="1"/>
          <p:nvPr/>
        </p:nvSpPr>
        <p:spPr>
          <a:xfrm>
            <a:off x="1783600" y="1096825"/>
            <a:ext cx="1221300" cy="387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rPr>
              <a:t>New</a:t>
            </a:r>
            <a:endParaRPr sz="3000">
              <a:solidFill>
                <a:schemeClr val="accent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pic>
        <p:nvPicPr>
          <p:cNvPr id="124" name="Google Shape;124;g27386d9d961_1_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98375" y="180950"/>
            <a:ext cx="1736624" cy="1736624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g27386d9d961_1_6"/>
          <p:cNvSpPr txBox="1"/>
          <p:nvPr/>
        </p:nvSpPr>
        <p:spPr>
          <a:xfrm>
            <a:off x="5779975" y="1989300"/>
            <a:ext cx="2419200" cy="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rPr>
              <a:t>BBQ Sauce</a:t>
            </a:r>
            <a:endParaRPr sz="2400">
              <a:solidFill>
                <a:schemeClr val="dk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26" name="Google Shape;126;g27386d9d961_1_6"/>
          <p:cNvSpPr txBox="1"/>
          <p:nvPr/>
        </p:nvSpPr>
        <p:spPr>
          <a:xfrm>
            <a:off x="5779975" y="3292525"/>
            <a:ext cx="2419200" cy="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rPr>
              <a:t>Wheat flour</a:t>
            </a:r>
            <a:endParaRPr sz="2400">
              <a:solidFill>
                <a:schemeClr val="dk1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rPr>
              <a:t>As thickener</a:t>
            </a:r>
            <a:endParaRPr sz="2400">
              <a:solidFill>
                <a:schemeClr val="dk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cxnSp>
        <p:nvCxnSpPr>
          <p:cNvPr id="127" name="Google Shape;127;g27386d9d961_1_6"/>
          <p:cNvCxnSpPr>
            <a:stCxn id="125" idx="2"/>
            <a:endCxn id="126" idx="0"/>
          </p:cNvCxnSpPr>
          <p:nvPr/>
        </p:nvCxnSpPr>
        <p:spPr>
          <a:xfrm>
            <a:off x="6989575" y="2529600"/>
            <a:ext cx="0" cy="762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8" name="Google Shape;128;g27386d9d961_1_6"/>
          <p:cNvSpPr txBox="1"/>
          <p:nvPr/>
        </p:nvSpPr>
        <p:spPr>
          <a:xfrm>
            <a:off x="5369640" y="4126425"/>
            <a:ext cx="3194100" cy="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Gluten allergy!</a:t>
            </a:r>
            <a:endParaRPr sz="2000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276d962688a_0_13"/>
          <p:cNvSpPr txBox="1"/>
          <p:nvPr/>
        </p:nvSpPr>
        <p:spPr>
          <a:xfrm>
            <a:off x="369100" y="180950"/>
            <a:ext cx="4050300" cy="845400"/>
          </a:xfrm>
          <a:prstGeom prst="rect">
            <a:avLst/>
          </a:prstGeom>
          <a:noFill/>
          <a:ln cap="flat" cmpd="sng" w="3810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Finds allergens in the recipe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g276d962688a_0_13"/>
          <p:cNvSpPr txBox="1"/>
          <p:nvPr/>
        </p:nvSpPr>
        <p:spPr>
          <a:xfrm>
            <a:off x="369100" y="1356700"/>
            <a:ext cx="4050300" cy="3239700"/>
          </a:xfrm>
          <a:prstGeom prst="rect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46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Char char="●"/>
            </a:pPr>
            <a:r>
              <a:rPr lang="en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Finds sub-ingredients / 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child allergens 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Char char="●"/>
            </a:pPr>
            <a:r>
              <a:rPr lang="en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Provides more information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2300"/>
              <a:buFont typeface="Calibri"/>
              <a:buChar char="●"/>
            </a:pPr>
            <a:r>
              <a:rPr lang="en" sz="2300">
                <a:solidFill>
                  <a:srgbClr val="980000"/>
                </a:solidFill>
                <a:latin typeface="Calibri"/>
                <a:ea typeface="Calibri"/>
                <a:cs typeface="Calibri"/>
                <a:sym typeface="Calibri"/>
              </a:rPr>
              <a:t>Finds parent ingredients</a:t>
            </a:r>
            <a:endParaRPr sz="2300">
              <a:solidFill>
                <a:srgbClr val="98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2300"/>
              <a:buFont typeface="Calibri"/>
              <a:buChar char="●"/>
            </a:pPr>
            <a:r>
              <a:rPr lang="en" sz="2300">
                <a:solidFill>
                  <a:srgbClr val="980000"/>
                </a:solidFill>
                <a:latin typeface="Calibri"/>
                <a:ea typeface="Calibri"/>
                <a:cs typeface="Calibri"/>
                <a:sym typeface="Calibri"/>
              </a:rPr>
              <a:t>Provides more option</a:t>
            </a:r>
            <a:endParaRPr sz="2300">
              <a:solidFill>
                <a:srgbClr val="98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2300"/>
              <a:buFont typeface="Calibri"/>
              <a:buChar char="●"/>
            </a:pPr>
            <a:r>
              <a:rPr lang="en" sz="2300">
                <a:solidFill>
                  <a:srgbClr val="980000"/>
                </a:solidFill>
                <a:latin typeface="Calibri"/>
                <a:ea typeface="Calibri"/>
                <a:cs typeface="Calibri"/>
                <a:sym typeface="Calibri"/>
              </a:rPr>
              <a:t>Reduce allergy risk</a:t>
            </a:r>
            <a:endParaRPr sz="2300">
              <a:solidFill>
                <a:srgbClr val="98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</a:endParaRPr>
          </a:p>
        </p:txBody>
      </p:sp>
      <p:sp>
        <p:nvSpPr>
          <p:cNvPr id="135" name="Google Shape;135;g276d962688a_0_13"/>
          <p:cNvSpPr txBox="1"/>
          <p:nvPr/>
        </p:nvSpPr>
        <p:spPr>
          <a:xfrm>
            <a:off x="1783600" y="1096825"/>
            <a:ext cx="1221300" cy="387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rPr>
              <a:t>New</a:t>
            </a:r>
            <a:endParaRPr sz="3000">
              <a:solidFill>
                <a:schemeClr val="accent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36" name="Google Shape;136;g276d962688a_0_13"/>
          <p:cNvSpPr txBox="1"/>
          <p:nvPr/>
        </p:nvSpPr>
        <p:spPr>
          <a:xfrm>
            <a:off x="5392525" y="2834700"/>
            <a:ext cx="3194100" cy="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rPr>
              <a:t>Béchamel </a:t>
            </a:r>
            <a:r>
              <a:rPr lang="en" sz="24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rPr>
              <a:t>Sauce</a:t>
            </a:r>
            <a:endParaRPr sz="2400">
              <a:solidFill>
                <a:schemeClr val="dk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37" name="Google Shape;137;g276d962688a_0_13"/>
          <p:cNvSpPr txBox="1"/>
          <p:nvPr/>
        </p:nvSpPr>
        <p:spPr>
          <a:xfrm>
            <a:off x="5779975" y="4384525"/>
            <a:ext cx="2419200" cy="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rPr>
              <a:t>Milk</a:t>
            </a:r>
            <a:endParaRPr sz="2400">
              <a:solidFill>
                <a:schemeClr val="dk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38" name="Google Shape;138;g276d962688a_0_13"/>
          <p:cNvSpPr txBox="1"/>
          <p:nvPr/>
        </p:nvSpPr>
        <p:spPr>
          <a:xfrm>
            <a:off x="5369640" y="333500"/>
            <a:ext cx="3194100" cy="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Dairy</a:t>
            </a:r>
            <a:r>
              <a:rPr lang="en" sz="20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 allergy!</a:t>
            </a:r>
            <a:endParaRPr sz="2000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39" name="Google Shape;139;g276d962688a_0_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24450" y="1026350"/>
            <a:ext cx="1684500" cy="16845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0" name="Google Shape;140;g276d962688a_0_13"/>
          <p:cNvCxnSpPr>
            <a:endCxn id="136" idx="2"/>
          </p:cNvCxnSpPr>
          <p:nvPr/>
        </p:nvCxnSpPr>
        <p:spPr>
          <a:xfrm rot="10800000">
            <a:off x="6989575" y="3375000"/>
            <a:ext cx="0" cy="10095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2738b4021cc_0_39"/>
          <p:cNvSpPr txBox="1"/>
          <p:nvPr>
            <p:ph type="title"/>
          </p:nvPr>
        </p:nvSpPr>
        <p:spPr>
          <a:xfrm>
            <a:off x="786150" y="308120"/>
            <a:ext cx="7571700" cy="70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 sz="3000"/>
              <a:t>Selenium update</a:t>
            </a:r>
            <a:endParaRPr sz="3000"/>
          </a:p>
        </p:txBody>
      </p:sp>
      <p:sp>
        <p:nvSpPr>
          <p:cNvPr id="146" name="Google Shape;146;g2738b4021cc_0_39"/>
          <p:cNvSpPr txBox="1"/>
          <p:nvPr>
            <p:ph idx="12" type="sldNum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47" name="Google Shape;147;g2738b4021cc_0_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77350" y="1712738"/>
            <a:ext cx="2091411" cy="2185524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g2738b4021cc_0_39"/>
          <p:cNvSpPr txBox="1"/>
          <p:nvPr/>
        </p:nvSpPr>
        <p:spPr>
          <a:xfrm>
            <a:off x="1470250" y="2370938"/>
            <a:ext cx="2313300" cy="8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>
                <a:solidFill>
                  <a:schemeClr val="dk1"/>
                </a:solidFill>
                <a:latin typeface="Squada One"/>
                <a:ea typeface="Squada One"/>
                <a:cs typeface="Squada One"/>
                <a:sym typeface="Squada One"/>
              </a:rPr>
              <a:t>Requests</a:t>
            </a:r>
            <a:endParaRPr sz="4200">
              <a:solidFill>
                <a:schemeClr val="dk1"/>
              </a:solidFill>
              <a:latin typeface="Squada One"/>
              <a:ea typeface="Squada One"/>
              <a:cs typeface="Squada One"/>
              <a:sym typeface="Squada One"/>
            </a:endParaRPr>
          </a:p>
        </p:txBody>
      </p:sp>
      <p:sp>
        <p:nvSpPr>
          <p:cNvPr id="149" name="Google Shape;149;g2738b4021cc_0_39"/>
          <p:cNvSpPr/>
          <p:nvPr/>
        </p:nvSpPr>
        <p:spPr>
          <a:xfrm>
            <a:off x="4099300" y="2608700"/>
            <a:ext cx="1115700" cy="3936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27386d9d961_1_23"/>
          <p:cNvSpPr txBox="1"/>
          <p:nvPr>
            <p:ph type="ctrTitle"/>
          </p:nvPr>
        </p:nvSpPr>
        <p:spPr>
          <a:xfrm>
            <a:off x="1546025" y="1754794"/>
            <a:ext cx="5832600" cy="11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" sz="6000">
                <a:solidFill>
                  <a:schemeClr val="accent4"/>
                </a:solidFill>
              </a:rPr>
              <a:t>3.</a:t>
            </a:r>
            <a:endParaRPr sz="6000">
              <a:solidFill>
                <a:schemeClr val="accent4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"/>
              <a:t>Application and Backend Updates</a:t>
            </a:r>
            <a:endParaRPr/>
          </a:p>
        </p:txBody>
      </p:sp>
      <p:sp>
        <p:nvSpPr>
          <p:cNvPr id="155" name="Google Shape;155;g27386d9d961_1_23"/>
          <p:cNvSpPr txBox="1"/>
          <p:nvPr>
            <p:ph idx="4294967295" type="sldNum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9"/>
          <p:cNvSpPr txBox="1"/>
          <p:nvPr>
            <p:ph type="title"/>
          </p:nvPr>
        </p:nvSpPr>
        <p:spPr>
          <a:xfrm>
            <a:off x="786150" y="308120"/>
            <a:ext cx="7571700" cy="70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 sz="3000"/>
              <a:t>TB2 </a:t>
            </a:r>
            <a:r>
              <a:rPr lang="en" sz="3000"/>
              <a:t>Implemented Required Features</a:t>
            </a:r>
            <a:endParaRPr sz="3000"/>
          </a:p>
        </p:txBody>
      </p:sp>
      <p:sp>
        <p:nvSpPr>
          <p:cNvPr id="161" name="Google Shape;161;p9"/>
          <p:cNvSpPr txBox="1"/>
          <p:nvPr>
            <p:ph idx="1" type="body"/>
          </p:nvPr>
        </p:nvSpPr>
        <p:spPr>
          <a:xfrm>
            <a:off x="786150" y="1200150"/>
            <a:ext cx="2419800" cy="37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b="1" lang="en"/>
              <a:t>User Text Input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/>
              <a:t>Can enter either a URL or text blob</a:t>
            </a:r>
            <a:endParaRPr/>
          </a:p>
        </p:txBody>
      </p:sp>
      <p:sp>
        <p:nvSpPr>
          <p:cNvPr id="162" name="Google Shape;162;p9"/>
          <p:cNvSpPr txBox="1"/>
          <p:nvPr>
            <p:ph idx="2" type="body"/>
          </p:nvPr>
        </p:nvSpPr>
        <p:spPr>
          <a:xfrm>
            <a:off x="3329992" y="1200150"/>
            <a:ext cx="2419800" cy="37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b="1" lang="en"/>
              <a:t>User Management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/>
              <a:t>Has to be a way to differentiate users</a:t>
            </a:r>
            <a:endParaRPr/>
          </a:p>
        </p:txBody>
      </p:sp>
      <p:sp>
        <p:nvSpPr>
          <p:cNvPr id="163" name="Google Shape;163;p9"/>
          <p:cNvSpPr txBox="1"/>
          <p:nvPr>
            <p:ph idx="3" type="body"/>
          </p:nvPr>
        </p:nvSpPr>
        <p:spPr>
          <a:xfrm>
            <a:off x="5873825" y="1200150"/>
            <a:ext cx="2419800" cy="15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b="1" lang="en"/>
              <a:t>Technical Auth Context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/>
              <a:t>Manage user access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/>
              <a:t>Privatized Routes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164" name="Google Shape;164;p9"/>
          <p:cNvSpPr txBox="1"/>
          <p:nvPr>
            <p:ph idx="12" type="sldNum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5" name="Google Shape;165;p9"/>
          <p:cNvSpPr txBox="1"/>
          <p:nvPr>
            <p:ph idx="3" type="body"/>
          </p:nvPr>
        </p:nvSpPr>
        <p:spPr>
          <a:xfrm>
            <a:off x="786150" y="2797825"/>
            <a:ext cx="2419800" cy="15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b="1" lang="en"/>
              <a:t>Proper Routing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/>
              <a:t>Routes between the pages of the application.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166" name="Google Shape;166;p9"/>
          <p:cNvSpPr txBox="1"/>
          <p:nvPr>
            <p:ph idx="3" type="body"/>
          </p:nvPr>
        </p:nvSpPr>
        <p:spPr>
          <a:xfrm>
            <a:off x="3330000" y="2797825"/>
            <a:ext cx="2419800" cy="15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b="1" lang="en"/>
              <a:t>MongoDB Atlas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/>
              <a:t>Database for user information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7386d9d961_1_35"/>
          <p:cNvSpPr txBox="1"/>
          <p:nvPr>
            <p:ph idx="1" type="body"/>
          </p:nvPr>
        </p:nvSpPr>
        <p:spPr>
          <a:xfrm>
            <a:off x="439250" y="1200150"/>
            <a:ext cx="4022100" cy="122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</a:pPr>
            <a:r>
              <a:rPr b="1" lang="en"/>
              <a:t>User Selection of Avoidances</a:t>
            </a:r>
            <a:endParaRPr b="1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/>
              <a:t>Login is OPTIONAL</a:t>
            </a:r>
            <a:endParaRPr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/>
              <a:t>Built flow for one time users</a:t>
            </a:r>
            <a:endParaRPr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/>
              <a:t>Save preferences to account</a:t>
            </a:r>
            <a:endParaRPr/>
          </a:p>
        </p:txBody>
      </p:sp>
      <p:sp>
        <p:nvSpPr>
          <p:cNvPr id="172" name="Google Shape;172;g27386d9d961_1_35"/>
          <p:cNvSpPr txBox="1"/>
          <p:nvPr>
            <p:ph type="title"/>
          </p:nvPr>
        </p:nvSpPr>
        <p:spPr>
          <a:xfrm>
            <a:off x="538175" y="308120"/>
            <a:ext cx="7571700" cy="70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 sz="3000"/>
              <a:t>Current State of</a:t>
            </a:r>
            <a:r>
              <a:rPr lang="en" sz="3000"/>
              <a:t> Application</a:t>
            </a:r>
            <a:endParaRPr sz="3000"/>
          </a:p>
        </p:txBody>
      </p:sp>
      <p:sp>
        <p:nvSpPr>
          <p:cNvPr id="173" name="Google Shape;173;g27386d9d961_1_35"/>
          <p:cNvSpPr txBox="1"/>
          <p:nvPr>
            <p:ph idx="2" type="body"/>
          </p:nvPr>
        </p:nvSpPr>
        <p:spPr>
          <a:xfrm>
            <a:off x="4682650" y="1200150"/>
            <a:ext cx="3675300" cy="12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</a:pPr>
            <a:r>
              <a:rPr b="1" lang="en"/>
              <a:t>Save Past Searches</a:t>
            </a:r>
            <a:endParaRPr b="1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/>
              <a:t>If logged in</a:t>
            </a:r>
            <a:endParaRPr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/>
              <a:t>View the Query (link or blob) and the results</a:t>
            </a:r>
            <a:endParaRPr/>
          </a:p>
        </p:txBody>
      </p:sp>
      <p:sp>
        <p:nvSpPr>
          <p:cNvPr id="174" name="Google Shape;174;g27386d9d961_1_35"/>
          <p:cNvSpPr txBox="1"/>
          <p:nvPr>
            <p:ph idx="12" type="sldNum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5" name="Google Shape;175;g27386d9d961_1_35"/>
          <p:cNvSpPr txBox="1"/>
          <p:nvPr>
            <p:ph idx="1" type="body"/>
          </p:nvPr>
        </p:nvSpPr>
        <p:spPr>
          <a:xfrm>
            <a:off x="538175" y="2612375"/>
            <a:ext cx="4022100" cy="231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</a:pPr>
            <a:r>
              <a:rPr b="1" lang="en"/>
              <a:t>Backend in Javascript</a:t>
            </a:r>
            <a:endParaRPr b="1"/>
          </a:p>
          <a:p>
            <a:pPr indent="-3556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Char char="-"/>
            </a:pPr>
            <a:r>
              <a:rPr lang="en"/>
              <a:t>Handles JWT</a:t>
            </a:r>
            <a:endParaRPr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/>
              <a:t>Authentication for user preference updates</a:t>
            </a:r>
            <a:endParaRPr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/>
              <a:t>Signup/Login capabilities</a:t>
            </a:r>
            <a:endParaRPr/>
          </a:p>
        </p:txBody>
      </p:sp>
      <p:sp>
        <p:nvSpPr>
          <p:cNvPr id="176" name="Google Shape;176;g27386d9d961_1_35"/>
          <p:cNvSpPr txBox="1"/>
          <p:nvPr>
            <p:ph idx="1" type="body"/>
          </p:nvPr>
        </p:nvSpPr>
        <p:spPr>
          <a:xfrm>
            <a:off x="4682650" y="2612375"/>
            <a:ext cx="4022100" cy="231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</a:pPr>
            <a:r>
              <a:rPr b="1" lang="en"/>
              <a:t>User Dashboard Built</a:t>
            </a:r>
            <a:endParaRPr b="1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/>
              <a:t>UI is partitioned with demo content</a:t>
            </a:r>
            <a:endParaRPr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/>
              <a:t>Modal for updating preferences added</a:t>
            </a:r>
            <a:endParaRPr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/>
              <a:t>Table for result viewing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27386d9d961_1_12"/>
          <p:cNvSpPr txBox="1"/>
          <p:nvPr>
            <p:ph type="title"/>
          </p:nvPr>
        </p:nvSpPr>
        <p:spPr>
          <a:xfrm>
            <a:off x="786150" y="308120"/>
            <a:ext cx="7571700" cy="70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 sz="3000"/>
              <a:t>Challenges</a:t>
            </a:r>
            <a:endParaRPr sz="3000"/>
          </a:p>
        </p:txBody>
      </p:sp>
      <p:sp>
        <p:nvSpPr>
          <p:cNvPr id="182" name="Google Shape;182;g27386d9d961_1_12"/>
          <p:cNvSpPr txBox="1"/>
          <p:nvPr>
            <p:ph idx="1" type="body"/>
          </p:nvPr>
        </p:nvSpPr>
        <p:spPr>
          <a:xfrm>
            <a:off x="786150" y="1261700"/>
            <a:ext cx="7571700" cy="35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◎"/>
            </a:pPr>
            <a:r>
              <a:rPr lang="en"/>
              <a:t>CSS (as always)</a:t>
            </a:r>
            <a:endParaRPr/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◎"/>
            </a:pPr>
            <a:r>
              <a:rPr lang="en"/>
              <a:t>UI Design</a:t>
            </a:r>
            <a:endParaRPr/>
          </a:p>
          <a:p>
            <a:pPr indent="-3810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/>
              <a:t>Feels very nondescript currently</a:t>
            </a:r>
            <a:endParaRPr/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◎"/>
            </a:pPr>
            <a:r>
              <a:rPr lang="en"/>
              <a:t>CORS handling</a:t>
            </a:r>
            <a:endParaRPr/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◎"/>
            </a:pPr>
            <a:r>
              <a:rPr lang="en"/>
              <a:t>Creating secure session</a:t>
            </a:r>
            <a:endParaRPr/>
          </a:p>
          <a:p>
            <a:pPr indent="-3810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/>
              <a:t>Not the end of the world for this app</a:t>
            </a:r>
            <a:endParaRPr/>
          </a:p>
        </p:txBody>
      </p:sp>
      <p:sp>
        <p:nvSpPr>
          <p:cNvPr id="183" name="Google Shape;183;g27386d9d961_1_12"/>
          <p:cNvSpPr txBox="1"/>
          <p:nvPr>
            <p:ph idx="12" type="sldNum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27386d9d961_1_58"/>
          <p:cNvSpPr txBox="1"/>
          <p:nvPr>
            <p:ph idx="1" type="body"/>
          </p:nvPr>
        </p:nvSpPr>
        <p:spPr>
          <a:xfrm>
            <a:off x="538175" y="1200150"/>
            <a:ext cx="4022100" cy="122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</a:pPr>
            <a:r>
              <a:rPr b="1" lang="en"/>
              <a:t>Connect to ElasticSearch</a:t>
            </a:r>
            <a:endParaRPr b="1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/>
              <a:t>ElasticSearch part has specific params, frontend matches those currently</a:t>
            </a:r>
            <a:endParaRPr/>
          </a:p>
        </p:txBody>
      </p:sp>
      <p:sp>
        <p:nvSpPr>
          <p:cNvPr id="189" name="Google Shape;189;g27386d9d961_1_58"/>
          <p:cNvSpPr txBox="1"/>
          <p:nvPr>
            <p:ph type="title"/>
          </p:nvPr>
        </p:nvSpPr>
        <p:spPr>
          <a:xfrm>
            <a:off x="538175" y="308120"/>
            <a:ext cx="7571700" cy="70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 sz="3000"/>
              <a:t>Next Steps for Project</a:t>
            </a:r>
            <a:endParaRPr sz="3000"/>
          </a:p>
        </p:txBody>
      </p:sp>
      <p:sp>
        <p:nvSpPr>
          <p:cNvPr id="190" name="Google Shape;190;g27386d9d961_1_58"/>
          <p:cNvSpPr txBox="1"/>
          <p:nvPr>
            <p:ph idx="2" type="body"/>
          </p:nvPr>
        </p:nvSpPr>
        <p:spPr>
          <a:xfrm>
            <a:off x="4682650" y="1200150"/>
            <a:ext cx="3675300" cy="12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</a:pPr>
            <a:r>
              <a:rPr b="1" lang="en"/>
              <a:t>Build out Data</a:t>
            </a:r>
            <a:endParaRPr b="1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/>
              <a:t>Keep adding ingredients</a:t>
            </a:r>
            <a:endParaRPr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/>
              <a:t>Try to make it not just specific to one food group</a:t>
            </a:r>
            <a:endParaRPr/>
          </a:p>
        </p:txBody>
      </p:sp>
      <p:sp>
        <p:nvSpPr>
          <p:cNvPr id="191" name="Google Shape;191;g27386d9d961_1_58"/>
          <p:cNvSpPr txBox="1"/>
          <p:nvPr>
            <p:ph idx="12" type="sldNum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2" name="Google Shape;192;g27386d9d961_1_58"/>
          <p:cNvSpPr txBox="1"/>
          <p:nvPr>
            <p:ph idx="1" type="body"/>
          </p:nvPr>
        </p:nvSpPr>
        <p:spPr>
          <a:xfrm>
            <a:off x="538175" y="2761150"/>
            <a:ext cx="4022100" cy="231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</a:pPr>
            <a:r>
              <a:rPr b="1" lang="en"/>
              <a:t>Add Polish</a:t>
            </a:r>
            <a:endParaRPr b="1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/>
              <a:t>Clean up the UI</a:t>
            </a:r>
            <a:endParaRPr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/>
              <a:t>Add transitions</a:t>
            </a:r>
            <a:endParaRPr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/>
              <a:t>Intuitive Error handling</a:t>
            </a:r>
            <a:endParaRPr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/>
              <a:t>Make it more personal</a:t>
            </a:r>
            <a:endParaRPr/>
          </a:p>
        </p:txBody>
      </p:sp>
      <p:sp>
        <p:nvSpPr>
          <p:cNvPr id="193" name="Google Shape;193;g27386d9d961_1_58"/>
          <p:cNvSpPr txBox="1"/>
          <p:nvPr>
            <p:ph idx="2" type="body"/>
          </p:nvPr>
        </p:nvSpPr>
        <p:spPr>
          <a:xfrm>
            <a:off x="4682650" y="2761150"/>
            <a:ext cx="3675300" cy="20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</a:pPr>
            <a:r>
              <a:rPr b="1" lang="en"/>
              <a:t>Features</a:t>
            </a:r>
            <a:endParaRPr b="1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/>
              <a:t>Password Reset</a:t>
            </a:r>
            <a:endParaRPr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/>
              <a:t>Email results to yourself</a:t>
            </a:r>
            <a:endParaRPr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/>
              <a:t>Anything else we think of along the way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5"/>
          <p:cNvSpPr txBox="1"/>
          <p:nvPr>
            <p:ph idx="4294967295" type="ctrTitle"/>
          </p:nvPr>
        </p:nvSpPr>
        <p:spPr>
          <a:xfrm>
            <a:off x="685800" y="516542"/>
            <a:ext cx="7772400" cy="11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</a:pPr>
            <a:r>
              <a:rPr b="1" i="0" lang="en" sz="6000" u="none" cap="none" strike="noStrik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rPr>
              <a:t>Thanks!</a:t>
            </a:r>
            <a:endParaRPr b="1" i="0" sz="6000" u="none" cap="none" strike="noStrike">
              <a:solidFill>
                <a:schemeClr val="accent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99" name="Google Shape;199;p25"/>
          <p:cNvSpPr txBox="1"/>
          <p:nvPr>
            <p:ph idx="4294967295" type="subTitle"/>
          </p:nvPr>
        </p:nvSpPr>
        <p:spPr>
          <a:xfrm>
            <a:off x="685800" y="1639913"/>
            <a:ext cx="6593700" cy="7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Arial"/>
              <a:buNone/>
            </a:pPr>
            <a:r>
              <a:rPr b="1" i="0" lang="en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Any questions?</a:t>
            </a:r>
            <a:endParaRPr b="1" i="0" sz="3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25"/>
          <p:cNvSpPr txBox="1"/>
          <p:nvPr>
            <p:ph idx="12" type="sldNum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ordelia template">
  <a:themeElements>
    <a:clrScheme name="Custom 347">
      <a:dk1>
        <a:srgbClr val="263238"/>
      </a:dk1>
      <a:lt1>
        <a:srgbClr val="FFFFFF"/>
      </a:lt1>
      <a:dk2>
        <a:srgbClr val="607D8B"/>
      </a:dk2>
      <a:lt2>
        <a:srgbClr val="ECEFF1"/>
      </a:lt2>
      <a:accent1>
        <a:srgbClr val="0091EA"/>
      </a:accent1>
      <a:accent2>
        <a:srgbClr val="0053A3"/>
      </a:accent2>
      <a:accent3>
        <a:srgbClr val="607D8B"/>
      </a:accent3>
      <a:accent4>
        <a:srgbClr val="CFD8DC"/>
      </a:accent4>
      <a:accent5>
        <a:srgbClr val="ECEFF1"/>
      </a:accent5>
      <a:accent6>
        <a:srgbClr val="ACDBF8"/>
      </a:accent6>
      <a:hlink>
        <a:srgbClr val="0091EA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
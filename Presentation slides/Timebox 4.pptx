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Roboto Slab"/>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qi/9NXlMV0s9iCAcQl5kFsU/r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Slab-regular.fntdata"/><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font" Target="fonts/RobotoSlab-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e5747e58bd_0_4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2e5747e58bd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ee5860f079_0_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2ee5860f079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rPr lang="en"/>
              <a:t>on allergens that might be present in a burger. Stomach cramps, bloating, gas etc</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ee5860f079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ee5860f0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ee3dac99f1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2ee3dac99f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sz="1400"/>
              <a:t>In this diagram, our application processes data using Elasticsearch, which indexes the dataset (represented by the brown boxes). The User Interface (sky blue box) manages user interactions and information facilitated by a JavaScript-based backend (orange box). The workflow begins when the user submits a request via text or a website link via the User Interface. The backend retrieves the user's preferences and request details, then queries Elasticsearch based on these preferences. The results from Elasticsearch are compared with the user's request, and the final output is presented to the User Interface.</a:t>
            </a:r>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ee3dac99f1_0_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2ee3dac99f1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rPr lang="en"/>
              <a:t>on allergens that might be present in a burger. Stomach cramps, bloating, gas etc</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ee3dac99f1_0_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2ee3dac99f1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rPr lang="en"/>
              <a:t>on allergens that might be present in a burger. Stomach cramps, bloating, gas etc</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ee3dac99f1_0_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2ee3dac99f1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rPr lang="en"/>
              <a:t>on allergens that might be present in a burger. Stomach cramps, bloating, gas etc</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ee5860f079_0_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2ee5860f079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rPr lang="en"/>
              <a:t>on allergens that might be present in a burger. Stomach cramps, bloating, gas etc</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e5860f079_0_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2ee5860f079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1200"/>
              </a:spcAft>
              <a:buSzPts val="1100"/>
              <a:buNone/>
            </a:pPr>
            <a:r>
              <a:rPr lang="en"/>
              <a:t>on allergens that might be present in a burger. Stomach cramps, bloating, gas etc</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42"/>
          <p:cNvSpPr txBox="1"/>
          <p:nvPr>
            <p:ph type="ctrTitle"/>
          </p:nvPr>
        </p:nvSpPr>
        <p:spPr>
          <a:xfrm>
            <a:off x="1700185" y="1991850"/>
            <a:ext cx="5807400" cy="1159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5800"/>
              <a:buNone/>
              <a:defRPr b="1" sz="5800"/>
            </a:lvl1pPr>
            <a:lvl2pPr lvl="1" algn="l">
              <a:lnSpc>
                <a:spcPct val="100000"/>
              </a:lnSpc>
              <a:spcBef>
                <a:spcPts val="0"/>
              </a:spcBef>
              <a:spcAft>
                <a:spcPts val="0"/>
              </a:spcAft>
              <a:buSzPts val="5800"/>
              <a:buNone/>
              <a:defRPr b="1" sz="5800"/>
            </a:lvl2pPr>
            <a:lvl3pPr lvl="2" algn="l">
              <a:lnSpc>
                <a:spcPct val="100000"/>
              </a:lnSpc>
              <a:spcBef>
                <a:spcPts val="0"/>
              </a:spcBef>
              <a:spcAft>
                <a:spcPts val="0"/>
              </a:spcAft>
              <a:buSzPts val="5800"/>
              <a:buNone/>
              <a:defRPr b="1" sz="5800"/>
            </a:lvl3pPr>
            <a:lvl4pPr lvl="3" algn="l">
              <a:lnSpc>
                <a:spcPct val="100000"/>
              </a:lnSpc>
              <a:spcBef>
                <a:spcPts val="0"/>
              </a:spcBef>
              <a:spcAft>
                <a:spcPts val="0"/>
              </a:spcAft>
              <a:buSzPts val="5800"/>
              <a:buNone/>
              <a:defRPr b="1" sz="5800"/>
            </a:lvl4pPr>
            <a:lvl5pPr lvl="4" algn="l">
              <a:lnSpc>
                <a:spcPct val="100000"/>
              </a:lnSpc>
              <a:spcBef>
                <a:spcPts val="0"/>
              </a:spcBef>
              <a:spcAft>
                <a:spcPts val="0"/>
              </a:spcAft>
              <a:buSzPts val="5800"/>
              <a:buNone/>
              <a:defRPr b="1" sz="5800"/>
            </a:lvl5pPr>
            <a:lvl6pPr lvl="5" algn="l">
              <a:lnSpc>
                <a:spcPct val="100000"/>
              </a:lnSpc>
              <a:spcBef>
                <a:spcPts val="0"/>
              </a:spcBef>
              <a:spcAft>
                <a:spcPts val="0"/>
              </a:spcAft>
              <a:buSzPts val="5800"/>
              <a:buNone/>
              <a:defRPr b="1" sz="5800"/>
            </a:lvl6pPr>
            <a:lvl7pPr lvl="6" algn="l">
              <a:lnSpc>
                <a:spcPct val="100000"/>
              </a:lnSpc>
              <a:spcBef>
                <a:spcPts val="0"/>
              </a:spcBef>
              <a:spcAft>
                <a:spcPts val="0"/>
              </a:spcAft>
              <a:buSzPts val="5800"/>
              <a:buNone/>
              <a:defRPr b="1" sz="5800"/>
            </a:lvl7pPr>
            <a:lvl8pPr lvl="7" algn="l">
              <a:lnSpc>
                <a:spcPct val="100000"/>
              </a:lnSpc>
              <a:spcBef>
                <a:spcPts val="0"/>
              </a:spcBef>
              <a:spcAft>
                <a:spcPts val="0"/>
              </a:spcAft>
              <a:buSzPts val="5800"/>
              <a:buNone/>
              <a:defRPr b="1" sz="5800"/>
            </a:lvl8pPr>
            <a:lvl9pPr lvl="8" algn="l">
              <a:lnSpc>
                <a:spcPct val="100000"/>
              </a:lnSpc>
              <a:spcBef>
                <a:spcPts val="0"/>
              </a:spcBef>
              <a:spcAft>
                <a:spcPts val="0"/>
              </a:spcAft>
              <a:buSzPts val="5800"/>
              <a:buNone/>
              <a:defRPr b="1" sz="5800"/>
            </a:lvl9pPr>
          </a:lstStyle>
          <a:p/>
        </p:txBody>
      </p:sp>
      <p:sp>
        <p:nvSpPr>
          <p:cNvPr id="11" name="Google Shape;11;p42"/>
          <p:cNvSpPr/>
          <p:nvPr/>
        </p:nvSpPr>
        <p:spPr>
          <a:xfrm>
            <a:off x="7337531" y="4630074"/>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42"/>
          <p:cNvSpPr/>
          <p:nvPr/>
        </p:nvSpPr>
        <p:spPr>
          <a:xfrm>
            <a:off x="7790243" y="4182401"/>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42"/>
          <p:cNvSpPr/>
          <p:nvPr/>
        </p:nvSpPr>
        <p:spPr>
          <a:xfrm>
            <a:off x="8893253" y="3333348"/>
            <a:ext cx="57600" cy="57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42"/>
          <p:cNvSpPr/>
          <p:nvPr/>
        </p:nvSpPr>
        <p:spPr>
          <a:xfrm>
            <a:off x="8771302" y="4923775"/>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42"/>
          <p:cNvSpPr/>
          <p:nvPr/>
        </p:nvSpPr>
        <p:spPr>
          <a:xfrm>
            <a:off x="2386266" y="508134"/>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42"/>
          <p:cNvSpPr/>
          <p:nvPr/>
        </p:nvSpPr>
        <p:spPr>
          <a:xfrm>
            <a:off x="479460" y="2703980"/>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42"/>
          <p:cNvSpPr/>
          <p:nvPr/>
        </p:nvSpPr>
        <p:spPr>
          <a:xfrm>
            <a:off x="261540" y="643097"/>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42"/>
          <p:cNvSpPr/>
          <p:nvPr/>
        </p:nvSpPr>
        <p:spPr>
          <a:xfrm>
            <a:off x="507235" y="1080863"/>
            <a:ext cx="192600" cy="1923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42"/>
          <p:cNvSpPr/>
          <p:nvPr/>
        </p:nvSpPr>
        <p:spPr>
          <a:xfrm>
            <a:off x="8314019" y="3625322"/>
            <a:ext cx="144300" cy="1440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2"/>
          <p:cNvSpPr/>
          <p:nvPr/>
        </p:nvSpPr>
        <p:spPr>
          <a:xfrm>
            <a:off x="8882858" y="4186761"/>
            <a:ext cx="144300" cy="1440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2"/>
          <p:cNvSpPr/>
          <p:nvPr/>
        </p:nvSpPr>
        <p:spPr>
          <a:xfrm>
            <a:off x="158313" y="1596559"/>
            <a:ext cx="57600" cy="57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2"/>
          <p:cNvSpPr/>
          <p:nvPr/>
        </p:nvSpPr>
        <p:spPr>
          <a:xfrm>
            <a:off x="1396483" y="226428"/>
            <a:ext cx="192600" cy="1923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2"/>
          <p:cNvSpPr/>
          <p:nvPr/>
        </p:nvSpPr>
        <p:spPr>
          <a:xfrm>
            <a:off x="617492" y="2000594"/>
            <a:ext cx="57600" cy="57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42"/>
          <p:cNvSpPr/>
          <p:nvPr/>
        </p:nvSpPr>
        <p:spPr>
          <a:xfrm>
            <a:off x="3425273" y="387880"/>
            <a:ext cx="57600" cy="57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42"/>
          <p:cNvSpPr/>
          <p:nvPr/>
        </p:nvSpPr>
        <p:spPr>
          <a:xfrm>
            <a:off x="8014029" y="4567546"/>
            <a:ext cx="192600" cy="1923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6" name="Shape 26"/>
        <p:cNvGrpSpPr/>
        <p:nvPr/>
      </p:nvGrpSpPr>
      <p:grpSpPr>
        <a:xfrm>
          <a:off x="0" y="0"/>
          <a:ext cx="0" cy="0"/>
          <a:chOff x="0" y="0"/>
          <a:chExt cx="0" cy="0"/>
        </a:xfrm>
      </p:grpSpPr>
      <p:sp>
        <p:nvSpPr>
          <p:cNvPr id="27" name="Google Shape;27;p47"/>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28" name="Google Shape;28;p47"/>
          <p:cNvSpPr txBox="1"/>
          <p:nvPr>
            <p:ph idx="1" type="body"/>
          </p:nvPr>
        </p:nvSpPr>
        <p:spPr>
          <a:xfrm>
            <a:off x="786150" y="1261700"/>
            <a:ext cx="7571700" cy="35736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600"/>
              </a:spcBef>
              <a:spcAft>
                <a:spcPts val="0"/>
              </a:spcAft>
              <a:buSzPts val="2400"/>
              <a:buChar char="◎"/>
              <a:defRPr sz="2400"/>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sz="2400"/>
            </a:lvl4pPr>
            <a:lvl5pPr indent="-381000" lvl="4" marL="2286000" algn="l">
              <a:lnSpc>
                <a:spcPct val="100000"/>
              </a:lnSpc>
              <a:spcBef>
                <a:spcPts val="0"/>
              </a:spcBef>
              <a:spcAft>
                <a:spcPts val="0"/>
              </a:spcAft>
              <a:buSzPts val="2400"/>
              <a:buChar char="○"/>
              <a:defRPr sz="2400"/>
            </a:lvl5pPr>
            <a:lvl6pPr indent="-381000" lvl="5" marL="2743200" algn="l">
              <a:lnSpc>
                <a:spcPct val="100000"/>
              </a:lnSpc>
              <a:spcBef>
                <a:spcPts val="0"/>
              </a:spcBef>
              <a:spcAft>
                <a:spcPts val="0"/>
              </a:spcAft>
              <a:buSzPts val="2400"/>
              <a:buChar char="■"/>
              <a:defRPr sz="2400"/>
            </a:lvl6pPr>
            <a:lvl7pPr indent="-381000" lvl="6" marL="3200400" algn="l">
              <a:lnSpc>
                <a:spcPct val="100000"/>
              </a:lnSpc>
              <a:spcBef>
                <a:spcPts val="0"/>
              </a:spcBef>
              <a:spcAft>
                <a:spcPts val="0"/>
              </a:spcAft>
              <a:buSzPts val="2400"/>
              <a:buChar char="●"/>
              <a:defRPr sz="2400"/>
            </a:lvl7pPr>
            <a:lvl8pPr indent="-381000" lvl="7" marL="3657600" algn="l">
              <a:lnSpc>
                <a:spcPct val="100000"/>
              </a:lnSpc>
              <a:spcBef>
                <a:spcPts val="0"/>
              </a:spcBef>
              <a:spcAft>
                <a:spcPts val="0"/>
              </a:spcAft>
              <a:buSzPts val="2400"/>
              <a:buChar char="○"/>
              <a:defRPr sz="2400"/>
            </a:lvl8pPr>
            <a:lvl9pPr indent="-381000" lvl="8" marL="4114800" algn="l">
              <a:lnSpc>
                <a:spcPct val="100000"/>
              </a:lnSpc>
              <a:spcBef>
                <a:spcPts val="0"/>
              </a:spcBef>
              <a:spcAft>
                <a:spcPts val="0"/>
              </a:spcAft>
              <a:buSzPts val="2400"/>
              <a:buChar char="■"/>
              <a:defRPr sz="2400"/>
            </a:lvl9pPr>
          </a:lstStyle>
          <a:p/>
        </p:txBody>
      </p:sp>
      <p:sp>
        <p:nvSpPr>
          <p:cNvPr id="29" name="Google Shape;29;p47"/>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45"/>
          <p:cNvSpPr txBox="1"/>
          <p:nvPr>
            <p:ph type="ctrTitle"/>
          </p:nvPr>
        </p:nvSpPr>
        <p:spPr>
          <a:xfrm>
            <a:off x="1546025" y="1754794"/>
            <a:ext cx="5832600" cy="1159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400"/>
              <a:buNone/>
              <a:defRPr b="1" sz="4400"/>
            </a:lvl1pPr>
            <a:lvl2pPr lvl="1" algn="l">
              <a:lnSpc>
                <a:spcPct val="100000"/>
              </a:lnSpc>
              <a:spcBef>
                <a:spcPts val="0"/>
              </a:spcBef>
              <a:spcAft>
                <a:spcPts val="0"/>
              </a:spcAft>
              <a:buSzPts val="4400"/>
              <a:buNone/>
              <a:defRPr b="1" sz="4400"/>
            </a:lvl2pPr>
            <a:lvl3pPr lvl="2" algn="l">
              <a:lnSpc>
                <a:spcPct val="100000"/>
              </a:lnSpc>
              <a:spcBef>
                <a:spcPts val="0"/>
              </a:spcBef>
              <a:spcAft>
                <a:spcPts val="0"/>
              </a:spcAft>
              <a:buSzPts val="4400"/>
              <a:buNone/>
              <a:defRPr b="1" sz="4400"/>
            </a:lvl3pPr>
            <a:lvl4pPr lvl="3" algn="l">
              <a:lnSpc>
                <a:spcPct val="100000"/>
              </a:lnSpc>
              <a:spcBef>
                <a:spcPts val="0"/>
              </a:spcBef>
              <a:spcAft>
                <a:spcPts val="0"/>
              </a:spcAft>
              <a:buSzPts val="4400"/>
              <a:buNone/>
              <a:defRPr b="1" sz="4400"/>
            </a:lvl4pPr>
            <a:lvl5pPr lvl="4" algn="l">
              <a:lnSpc>
                <a:spcPct val="100000"/>
              </a:lnSpc>
              <a:spcBef>
                <a:spcPts val="0"/>
              </a:spcBef>
              <a:spcAft>
                <a:spcPts val="0"/>
              </a:spcAft>
              <a:buSzPts val="4400"/>
              <a:buNone/>
              <a:defRPr b="1" sz="4400"/>
            </a:lvl5pPr>
            <a:lvl6pPr lvl="5" algn="l">
              <a:lnSpc>
                <a:spcPct val="100000"/>
              </a:lnSpc>
              <a:spcBef>
                <a:spcPts val="0"/>
              </a:spcBef>
              <a:spcAft>
                <a:spcPts val="0"/>
              </a:spcAft>
              <a:buSzPts val="4400"/>
              <a:buNone/>
              <a:defRPr b="1" sz="4400"/>
            </a:lvl6pPr>
            <a:lvl7pPr lvl="6" algn="l">
              <a:lnSpc>
                <a:spcPct val="100000"/>
              </a:lnSpc>
              <a:spcBef>
                <a:spcPts val="0"/>
              </a:spcBef>
              <a:spcAft>
                <a:spcPts val="0"/>
              </a:spcAft>
              <a:buSzPts val="4400"/>
              <a:buNone/>
              <a:defRPr b="1" sz="4400"/>
            </a:lvl7pPr>
            <a:lvl8pPr lvl="7" algn="l">
              <a:lnSpc>
                <a:spcPct val="100000"/>
              </a:lnSpc>
              <a:spcBef>
                <a:spcPts val="0"/>
              </a:spcBef>
              <a:spcAft>
                <a:spcPts val="0"/>
              </a:spcAft>
              <a:buSzPts val="4400"/>
              <a:buNone/>
              <a:defRPr b="1" sz="4400"/>
            </a:lvl8pPr>
            <a:lvl9pPr lvl="8" algn="l">
              <a:lnSpc>
                <a:spcPct val="100000"/>
              </a:lnSpc>
              <a:spcBef>
                <a:spcPts val="0"/>
              </a:spcBef>
              <a:spcAft>
                <a:spcPts val="0"/>
              </a:spcAft>
              <a:buSzPts val="4400"/>
              <a:buNone/>
              <a:defRPr b="1" sz="4400"/>
            </a:lvl9pPr>
          </a:lstStyle>
          <a:p/>
        </p:txBody>
      </p:sp>
      <p:sp>
        <p:nvSpPr>
          <p:cNvPr id="32" name="Google Shape;32;p45"/>
          <p:cNvSpPr txBox="1"/>
          <p:nvPr>
            <p:ph idx="1" type="subTitle"/>
          </p:nvPr>
        </p:nvSpPr>
        <p:spPr>
          <a:xfrm>
            <a:off x="1546025" y="3011511"/>
            <a:ext cx="5832600" cy="7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3"/>
              </a:buClr>
              <a:buSzPts val="3000"/>
              <a:buNone/>
              <a:defRPr>
                <a:solidFill>
                  <a:schemeClr val="accent3"/>
                </a:solidFill>
              </a:defRPr>
            </a:lvl1pPr>
            <a:lvl2pPr lvl="1" algn="l">
              <a:lnSpc>
                <a:spcPct val="100000"/>
              </a:lnSpc>
              <a:spcBef>
                <a:spcPts val="0"/>
              </a:spcBef>
              <a:spcAft>
                <a:spcPts val="0"/>
              </a:spcAft>
              <a:buClr>
                <a:schemeClr val="accent3"/>
              </a:buClr>
              <a:buSzPts val="3000"/>
              <a:buNone/>
              <a:defRPr sz="3000">
                <a:solidFill>
                  <a:schemeClr val="accent3"/>
                </a:solidFill>
              </a:defRPr>
            </a:lvl2pPr>
            <a:lvl3pPr lvl="2" algn="l">
              <a:lnSpc>
                <a:spcPct val="100000"/>
              </a:lnSpc>
              <a:spcBef>
                <a:spcPts val="0"/>
              </a:spcBef>
              <a:spcAft>
                <a:spcPts val="0"/>
              </a:spcAft>
              <a:buClr>
                <a:schemeClr val="accent3"/>
              </a:buClr>
              <a:buSzPts val="3000"/>
              <a:buNone/>
              <a:defRPr sz="3000">
                <a:solidFill>
                  <a:schemeClr val="accent3"/>
                </a:solidFill>
              </a:defRPr>
            </a:lvl3pPr>
            <a:lvl4pPr lvl="3" algn="l">
              <a:lnSpc>
                <a:spcPct val="100000"/>
              </a:lnSpc>
              <a:spcBef>
                <a:spcPts val="0"/>
              </a:spcBef>
              <a:spcAft>
                <a:spcPts val="0"/>
              </a:spcAft>
              <a:buClr>
                <a:schemeClr val="accent3"/>
              </a:buClr>
              <a:buSzPts val="3000"/>
              <a:buNone/>
              <a:defRPr sz="3000">
                <a:solidFill>
                  <a:schemeClr val="accent3"/>
                </a:solidFill>
              </a:defRPr>
            </a:lvl4pPr>
            <a:lvl5pPr lvl="4" algn="l">
              <a:lnSpc>
                <a:spcPct val="100000"/>
              </a:lnSpc>
              <a:spcBef>
                <a:spcPts val="0"/>
              </a:spcBef>
              <a:spcAft>
                <a:spcPts val="0"/>
              </a:spcAft>
              <a:buClr>
                <a:schemeClr val="accent3"/>
              </a:buClr>
              <a:buSzPts val="3000"/>
              <a:buNone/>
              <a:defRPr sz="3000">
                <a:solidFill>
                  <a:schemeClr val="accent3"/>
                </a:solidFill>
              </a:defRPr>
            </a:lvl5pPr>
            <a:lvl6pPr lvl="5" algn="l">
              <a:lnSpc>
                <a:spcPct val="100000"/>
              </a:lnSpc>
              <a:spcBef>
                <a:spcPts val="0"/>
              </a:spcBef>
              <a:spcAft>
                <a:spcPts val="0"/>
              </a:spcAft>
              <a:buClr>
                <a:schemeClr val="accent3"/>
              </a:buClr>
              <a:buSzPts val="3000"/>
              <a:buNone/>
              <a:defRPr sz="3000">
                <a:solidFill>
                  <a:schemeClr val="accent3"/>
                </a:solidFill>
              </a:defRPr>
            </a:lvl6pPr>
            <a:lvl7pPr lvl="6" algn="l">
              <a:lnSpc>
                <a:spcPct val="100000"/>
              </a:lnSpc>
              <a:spcBef>
                <a:spcPts val="0"/>
              </a:spcBef>
              <a:spcAft>
                <a:spcPts val="0"/>
              </a:spcAft>
              <a:buClr>
                <a:schemeClr val="accent3"/>
              </a:buClr>
              <a:buSzPts val="3000"/>
              <a:buNone/>
              <a:defRPr sz="3000">
                <a:solidFill>
                  <a:schemeClr val="accent3"/>
                </a:solidFill>
              </a:defRPr>
            </a:lvl7pPr>
            <a:lvl8pPr lvl="7" algn="l">
              <a:lnSpc>
                <a:spcPct val="100000"/>
              </a:lnSpc>
              <a:spcBef>
                <a:spcPts val="0"/>
              </a:spcBef>
              <a:spcAft>
                <a:spcPts val="0"/>
              </a:spcAft>
              <a:buClr>
                <a:schemeClr val="accent3"/>
              </a:buClr>
              <a:buSzPts val="3000"/>
              <a:buNone/>
              <a:defRPr sz="3000">
                <a:solidFill>
                  <a:schemeClr val="accent3"/>
                </a:solidFill>
              </a:defRPr>
            </a:lvl8pPr>
            <a:lvl9pPr lvl="8" algn="l">
              <a:lnSpc>
                <a:spcPct val="100000"/>
              </a:lnSpc>
              <a:spcBef>
                <a:spcPts val="0"/>
              </a:spcBef>
              <a:spcAft>
                <a:spcPts val="0"/>
              </a:spcAft>
              <a:buClr>
                <a:schemeClr val="accent3"/>
              </a:buClr>
              <a:buSzPts val="3000"/>
              <a:buNone/>
              <a:defRPr sz="3000">
                <a:solidFill>
                  <a:schemeClr val="accent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3" name="Shape 33"/>
        <p:cNvGrpSpPr/>
        <p:nvPr/>
      </p:nvGrpSpPr>
      <p:grpSpPr>
        <a:xfrm>
          <a:off x="0" y="0"/>
          <a:ext cx="0" cy="0"/>
          <a:chOff x="0" y="0"/>
          <a:chExt cx="0" cy="0"/>
        </a:xfrm>
      </p:grpSpPr>
      <p:sp>
        <p:nvSpPr>
          <p:cNvPr id="34" name="Google Shape;34;p43"/>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35" name="Google Shape;35;p43"/>
          <p:cNvSpPr txBox="1"/>
          <p:nvPr>
            <p:ph idx="1" type="body"/>
          </p:nvPr>
        </p:nvSpPr>
        <p:spPr>
          <a:xfrm>
            <a:off x="786137" y="1200150"/>
            <a:ext cx="3675300" cy="37257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36" name="Google Shape;36;p43"/>
          <p:cNvSpPr txBox="1"/>
          <p:nvPr>
            <p:ph idx="2" type="body"/>
          </p:nvPr>
        </p:nvSpPr>
        <p:spPr>
          <a:xfrm>
            <a:off x="4682659" y="1200150"/>
            <a:ext cx="3675300" cy="37257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37" name="Google Shape;37;p43"/>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38" name="Shape 38"/>
        <p:cNvGrpSpPr/>
        <p:nvPr/>
      </p:nvGrpSpPr>
      <p:grpSpPr>
        <a:xfrm>
          <a:off x="0" y="0"/>
          <a:ext cx="0" cy="0"/>
          <a:chOff x="0" y="0"/>
          <a:chExt cx="0" cy="0"/>
        </a:xfrm>
      </p:grpSpPr>
      <p:sp>
        <p:nvSpPr>
          <p:cNvPr id="39" name="Google Shape;39;p48"/>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40" name="Google Shape;40;p48"/>
          <p:cNvSpPr txBox="1"/>
          <p:nvPr>
            <p:ph idx="1" type="body"/>
          </p:nvPr>
        </p:nvSpPr>
        <p:spPr>
          <a:xfrm>
            <a:off x="786150" y="1200150"/>
            <a:ext cx="2419800" cy="37257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41" name="Google Shape;41;p48"/>
          <p:cNvSpPr txBox="1"/>
          <p:nvPr>
            <p:ph idx="2" type="body"/>
          </p:nvPr>
        </p:nvSpPr>
        <p:spPr>
          <a:xfrm>
            <a:off x="3329992" y="1200150"/>
            <a:ext cx="2419800" cy="37257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42" name="Google Shape;42;p48"/>
          <p:cNvSpPr txBox="1"/>
          <p:nvPr>
            <p:ph idx="3" type="body"/>
          </p:nvPr>
        </p:nvSpPr>
        <p:spPr>
          <a:xfrm>
            <a:off x="5873834" y="1200150"/>
            <a:ext cx="2419800" cy="37257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43" name="Google Shape;43;p48"/>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44"/>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46" name="Shape 46"/>
        <p:cNvGrpSpPr/>
        <p:nvPr/>
      </p:nvGrpSpPr>
      <p:grpSpPr>
        <a:xfrm>
          <a:off x="0" y="0"/>
          <a:ext cx="0" cy="0"/>
          <a:chOff x="0" y="0"/>
          <a:chExt cx="0" cy="0"/>
        </a:xfrm>
      </p:grpSpPr>
      <p:pic>
        <p:nvPicPr>
          <p:cNvPr id="47" name="Google Shape;47;p46"/>
          <p:cNvPicPr preferRelativeResize="0"/>
          <p:nvPr/>
        </p:nvPicPr>
        <p:blipFill rotWithShape="1">
          <a:blip r:embed="rId2">
            <a:alphaModFix/>
          </a:blip>
          <a:srcRect b="0" l="19" r="19" t="0"/>
          <a:stretch/>
        </p:blipFill>
        <p:spPr>
          <a:xfrm flipH="1" rot="10800000">
            <a:off x="5952" y="0"/>
            <a:ext cx="9140602" cy="5143500"/>
          </a:xfrm>
          <a:prstGeom prst="rect">
            <a:avLst/>
          </a:prstGeom>
          <a:noFill/>
          <a:ln>
            <a:noFill/>
          </a:ln>
        </p:spPr>
      </p:pic>
      <p:sp>
        <p:nvSpPr>
          <p:cNvPr id="48" name="Google Shape;48;p46"/>
          <p:cNvSpPr txBox="1"/>
          <p:nvPr>
            <p:ph idx="1" type="body"/>
          </p:nvPr>
        </p:nvSpPr>
        <p:spPr>
          <a:xfrm>
            <a:off x="1215300" y="1723650"/>
            <a:ext cx="6713400" cy="819900"/>
          </a:xfrm>
          <a:prstGeom prst="rect">
            <a:avLst/>
          </a:prstGeom>
          <a:noFill/>
          <a:ln>
            <a:noFill/>
          </a:ln>
        </p:spPr>
        <p:txBody>
          <a:bodyPr anchorCtr="0" anchor="t" bIns="91425" lIns="91425" spcFirstLastPara="1" rIns="91425" wrap="square" tIns="91425">
            <a:noAutofit/>
          </a:bodyPr>
          <a:lstStyle>
            <a:lvl1pPr indent="-457200" lvl="0" marL="457200" algn="ctr">
              <a:lnSpc>
                <a:spcPct val="100000"/>
              </a:lnSpc>
              <a:spcBef>
                <a:spcPts val="600"/>
              </a:spcBef>
              <a:spcAft>
                <a:spcPts val="0"/>
              </a:spcAft>
              <a:buClr>
                <a:schemeClr val="dk1"/>
              </a:buClr>
              <a:buSzPts val="3600"/>
              <a:buChar char="◎"/>
              <a:defRPr i="1" sz="3600"/>
            </a:lvl1pPr>
            <a:lvl2pPr indent="-457200" lvl="1" marL="914400" algn="ctr">
              <a:lnSpc>
                <a:spcPct val="100000"/>
              </a:lnSpc>
              <a:spcBef>
                <a:spcPts val="0"/>
              </a:spcBef>
              <a:spcAft>
                <a:spcPts val="0"/>
              </a:spcAft>
              <a:buClr>
                <a:schemeClr val="dk1"/>
              </a:buClr>
              <a:buSzPts val="3600"/>
              <a:buChar char="○"/>
              <a:defRPr i="1" sz="3600"/>
            </a:lvl2pPr>
            <a:lvl3pPr indent="-457200" lvl="2" marL="1371600" algn="ctr">
              <a:lnSpc>
                <a:spcPct val="100000"/>
              </a:lnSpc>
              <a:spcBef>
                <a:spcPts val="0"/>
              </a:spcBef>
              <a:spcAft>
                <a:spcPts val="0"/>
              </a:spcAft>
              <a:buClr>
                <a:schemeClr val="dk1"/>
              </a:buClr>
              <a:buSzPts val="3600"/>
              <a:buChar char="◉"/>
              <a:defRPr i="1" sz="3600"/>
            </a:lvl3pPr>
            <a:lvl4pPr indent="-457200" lvl="3" marL="1828800" algn="ctr">
              <a:lnSpc>
                <a:spcPct val="100000"/>
              </a:lnSpc>
              <a:spcBef>
                <a:spcPts val="0"/>
              </a:spcBef>
              <a:spcAft>
                <a:spcPts val="0"/>
              </a:spcAft>
              <a:buSzPts val="3600"/>
              <a:buChar char="●"/>
              <a:defRPr i="1" sz="3600"/>
            </a:lvl4pPr>
            <a:lvl5pPr indent="-457200" lvl="4" marL="2286000" algn="ctr">
              <a:lnSpc>
                <a:spcPct val="100000"/>
              </a:lnSpc>
              <a:spcBef>
                <a:spcPts val="0"/>
              </a:spcBef>
              <a:spcAft>
                <a:spcPts val="0"/>
              </a:spcAft>
              <a:buSzPts val="3600"/>
              <a:buChar char="○"/>
              <a:defRPr i="1" sz="3600"/>
            </a:lvl5pPr>
            <a:lvl6pPr indent="-457200" lvl="5" marL="2743200" algn="ctr">
              <a:lnSpc>
                <a:spcPct val="100000"/>
              </a:lnSpc>
              <a:spcBef>
                <a:spcPts val="0"/>
              </a:spcBef>
              <a:spcAft>
                <a:spcPts val="0"/>
              </a:spcAft>
              <a:buSzPts val="3600"/>
              <a:buChar char="■"/>
              <a:defRPr i="1" sz="3600"/>
            </a:lvl6pPr>
            <a:lvl7pPr indent="-457200" lvl="6" marL="3200400" algn="ctr">
              <a:lnSpc>
                <a:spcPct val="100000"/>
              </a:lnSpc>
              <a:spcBef>
                <a:spcPts val="0"/>
              </a:spcBef>
              <a:spcAft>
                <a:spcPts val="0"/>
              </a:spcAft>
              <a:buSzPts val="3600"/>
              <a:buChar char="●"/>
              <a:defRPr i="1" sz="3600"/>
            </a:lvl7pPr>
            <a:lvl8pPr indent="-457200" lvl="7" marL="3657600" algn="ctr">
              <a:lnSpc>
                <a:spcPct val="100000"/>
              </a:lnSpc>
              <a:spcBef>
                <a:spcPts val="0"/>
              </a:spcBef>
              <a:spcAft>
                <a:spcPts val="0"/>
              </a:spcAft>
              <a:buSzPts val="3600"/>
              <a:buChar char="○"/>
              <a:defRPr i="1" sz="3600"/>
            </a:lvl8pPr>
            <a:lvl9pPr indent="-457200" lvl="8" marL="4114800" algn="ctr">
              <a:lnSpc>
                <a:spcPct val="100000"/>
              </a:lnSpc>
              <a:spcBef>
                <a:spcPts val="0"/>
              </a:spcBef>
              <a:spcAft>
                <a:spcPts val="0"/>
              </a:spcAft>
              <a:buSzPts val="3600"/>
              <a:buChar char="■"/>
              <a:defRPr i="1" sz="3600"/>
            </a:lvl9pPr>
          </a:lstStyle>
          <a:p/>
        </p:txBody>
      </p:sp>
      <p:grpSp>
        <p:nvGrpSpPr>
          <p:cNvPr id="49" name="Google Shape;49;p46"/>
          <p:cNvGrpSpPr/>
          <p:nvPr/>
        </p:nvGrpSpPr>
        <p:grpSpPr>
          <a:xfrm>
            <a:off x="3839646" y="782918"/>
            <a:ext cx="1464573" cy="842707"/>
            <a:chOff x="3593400" y="1729675"/>
            <a:chExt cx="1957200" cy="1123610"/>
          </a:xfrm>
        </p:grpSpPr>
        <p:sp>
          <p:nvSpPr>
            <p:cNvPr id="50" name="Google Shape;50;p46"/>
            <p:cNvSpPr txBox="1"/>
            <p:nvPr/>
          </p:nvSpPr>
          <p:spPr>
            <a:xfrm>
              <a:off x="3593400" y="1729675"/>
              <a:ext cx="1957200" cy="87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chemeClr val="accent1"/>
                  </a:solidFill>
                  <a:latin typeface="Arial"/>
                  <a:ea typeface="Arial"/>
                  <a:cs typeface="Arial"/>
                  <a:sym typeface="Arial"/>
                </a:rPr>
                <a:t>“</a:t>
              </a:r>
              <a:endParaRPr b="1" i="0" sz="6000" u="none" cap="none" strike="noStrike">
                <a:solidFill>
                  <a:schemeClr val="accent1"/>
                </a:solidFill>
                <a:latin typeface="Arial"/>
                <a:ea typeface="Arial"/>
                <a:cs typeface="Arial"/>
                <a:sym typeface="Arial"/>
              </a:endParaRPr>
            </a:p>
          </p:txBody>
        </p:sp>
        <p:sp>
          <p:nvSpPr>
            <p:cNvPr id="51" name="Google Shape;51;p46"/>
            <p:cNvSpPr/>
            <p:nvPr/>
          </p:nvSpPr>
          <p:spPr>
            <a:xfrm>
              <a:off x="4025400" y="1760085"/>
              <a:ext cx="1093200" cy="1093200"/>
            </a:xfrm>
            <a:prstGeom prst="ellipse">
              <a:avLst/>
            </a:prstGeom>
            <a:noFill/>
            <a:ln cap="flat" cmpd="sng" w="9525">
              <a:solidFill>
                <a:srgbClr val="CFD8D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6"/>
            <p:cNvSpPr/>
            <p:nvPr/>
          </p:nvSpPr>
          <p:spPr>
            <a:xfrm>
              <a:off x="4190700" y="1925385"/>
              <a:ext cx="762600" cy="762600"/>
            </a:xfrm>
            <a:prstGeom prst="ellipse">
              <a:avLst/>
            </a:prstGeom>
            <a:noFill/>
            <a:ln cap="flat" cmpd="sng" w="19050">
              <a:solidFill>
                <a:srgbClr val="CFD8D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3" name="Google Shape;53;p46"/>
          <p:cNvCxnSpPr>
            <a:endCxn id="51" idx="1"/>
          </p:cNvCxnSpPr>
          <p:nvPr/>
        </p:nvCxnSpPr>
        <p:spPr>
          <a:xfrm>
            <a:off x="3750511" y="390297"/>
            <a:ext cx="532200" cy="535500"/>
          </a:xfrm>
          <a:prstGeom prst="straightConnector1">
            <a:avLst/>
          </a:prstGeom>
          <a:noFill/>
          <a:ln cap="flat" cmpd="sng" w="9525">
            <a:solidFill>
              <a:srgbClr val="CFD8DC"/>
            </a:solidFill>
            <a:prstDash val="solid"/>
            <a:round/>
            <a:headEnd len="sm" w="sm" type="none"/>
            <a:tailEnd len="sm" w="sm" type="none"/>
          </a:ln>
        </p:spPr>
      </p:cxnSp>
      <p:cxnSp>
        <p:nvCxnSpPr>
          <p:cNvPr id="54" name="Google Shape;54;p46"/>
          <p:cNvCxnSpPr/>
          <p:nvPr/>
        </p:nvCxnSpPr>
        <p:spPr>
          <a:xfrm rot="10800000">
            <a:off x="4362902" y="436125"/>
            <a:ext cx="209100" cy="369600"/>
          </a:xfrm>
          <a:prstGeom prst="straightConnector1">
            <a:avLst/>
          </a:prstGeom>
          <a:noFill/>
          <a:ln cap="flat" cmpd="sng" w="9525">
            <a:solidFill>
              <a:srgbClr val="CFD8DC"/>
            </a:solidFill>
            <a:prstDash val="solid"/>
            <a:round/>
            <a:headEnd len="sm" w="sm" type="none"/>
            <a:tailEnd len="sm" w="sm" type="none"/>
          </a:ln>
        </p:spPr>
      </p:cxnSp>
      <p:cxnSp>
        <p:nvCxnSpPr>
          <p:cNvPr id="55" name="Google Shape;55;p46"/>
          <p:cNvCxnSpPr/>
          <p:nvPr/>
        </p:nvCxnSpPr>
        <p:spPr>
          <a:xfrm flipH="1" rot="10800000">
            <a:off x="4704510" y="351930"/>
            <a:ext cx="347100" cy="474600"/>
          </a:xfrm>
          <a:prstGeom prst="straightConnector1">
            <a:avLst/>
          </a:prstGeom>
          <a:noFill/>
          <a:ln cap="flat" cmpd="sng" w="9525">
            <a:solidFill>
              <a:srgbClr val="CFD8DC"/>
            </a:solidFill>
            <a:prstDash val="solid"/>
            <a:round/>
            <a:headEnd len="sm" w="sm" type="none"/>
            <a:tailEnd len="sm" w="sm" type="none"/>
          </a:ln>
        </p:spPr>
      </p:cxnSp>
      <p:sp>
        <p:nvSpPr>
          <p:cNvPr id="56" name="Google Shape;56;p46"/>
          <p:cNvSpPr txBox="1"/>
          <p:nvPr>
            <p:ph idx="12" type="sldNum"/>
          </p:nvPr>
        </p:nvSpPr>
        <p:spPr>
          <a:xfrm>
            <a:off x="-87" y="4749844"/>
            <a:ext cx="9144000" cy="39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57" name="Shape 57"/>
        <p:cNvGrpSpPr/>
        <p:nvPr/>
      </p:nvGrpSpPr>
      <p:grpSpPr>
        <a:xfrm>
          <a:off x="0" y="0"/>
          <a:ext cx="0" cy="0"/>
          <a:chOff x="0" y="0"/>
          <a:chExt cx="0" cy="0"/>
        </a:xfrm>
      </p:grpSpPr>
      <p:sp>
        <p:nvSpPr>
          <p:cNvPr id="58" name="Google Shape;58;p49"/>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59" name="Google Shape;59;p49"/>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mplete pattern">
  <p:cSld name="BLANK_1">
    <p:bg>
      <p:bgPr>
        <a:blipFill>
          <a:blip r:embed="rId2">
            <a:alphaModFix/>
          </a:blip>
          <a:stretch>
            <a:fillRect/>
          </a:stretch>
        </a:blipFill>
      </p:bgPr>
    </p:bg>
    <p:spTree>
      <p:nvGrpSpPr>
        <p:cNvPr id="60" name="Shape 60"/>
        <p:cNvGrpSpPr/>
        <p:nvPr/>
      </p:nvGrpSpPr>
      <p:grpSpPr>
        <a:xfrm>
          <a:off x="0" y="0"/>
          <a:ext cx="0" cy="0"/>
          <a:chOff x="0" y="0"/>
          <a:chExt cx="0" cy="0"/>
        </a:xfrm>
      </p:grpSpPr>
      <p:sp>
        <p:nvSpPr>
          <p:cNvPr id="61" name="Google Shape;61;p50"/>
          <p:cNvSpPr/>
          <p:nvPr/>
        </p:nvSpPr>
        <p:spPr>
          <a:xfrm>
            <a:off x="-26550" y="-14850"/>
            <a:ext cx="9197100" cy="5173200"/>
          </a:xfrm>
          <a:prstGeom prst="rect">
            <a:avLst/>
          </a:prstGeom>
          <a:solidFill>
            <a:srgbClr val="CFD8DC">
              <a:alpha val="4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0"/>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63" name="Shape 63"/>
        <p:cNvGrpSpPr/>
        <p:nvPr/>
      </p:nvGrpSpPr>
      <p:grpSpPr>
        <a:xfrm>
          <a:off x="0" y="0"/>
          <a:ext cx="0" cy="0"/>
          <a:chOff x="0" y="0"/>
          <a:chExt cx="0" cy="0"/>
        </a:xfrm>
      </p:grpSpPr>
      <p:sp>
        <p:nvSpPr>
          <p:cNvPr id="64" name="Google Shape;64;p51"/>
          <p:cNvSpPr txBox="1"/>
          <p:nvPr>
            <p:ph idx="1" type="body"/>
          </p:nvPr>
        </p:nvSpPr>
        <p:spPr>
          <a:xfrm>
            <a:off x="457200" y="4055343"/>
            <a:ext cx="8229600" cy="3687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360"/>
              </a:spcBef>
              <a:spcAft>
                <a:spcPts val="0"/>
              </a:spcAft>
              <a:buSzPts val="1800"/>
              <a:buNone/>
              <a:defRPr sz="1800"/>
            </a:lvl1pPr>
          </a:lstStyle>
          <a:p/>
        </p:txBody>
      </p:sp>
      <p:sp>
        <p:nvSpPr>
          <p:cNvPr id="65" name="Google Shape;65;p51"/>
          <p:cNvSpPr txBox="1"/>
          <p:nvPr>
            <p:ph idx="12" type="sldNum"/>
          </p:nvPr>
        </p:nvSpPr>
        <p:spPr>
          <a:xfrm>
            <a:off x="-92" y="4749844"/>
            <a:ext cx="9144000" cy="39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1pPr>
            <a:lvl2pPr lvl="1"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2pPr>
            <a:lvl3pPr lvl="2"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3pPr>
            <a:lvl4pPr lvl="3"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4pPr>
            <a:lvl5pPr lvl="4"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5pPr>
            <a:lvl6pPr lvl="5"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6pPr>
            <a:lvl7pPr lvl="6"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7pPr>
            <a:lvl8pPr lvl="7"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8pPr>
            <a:lvl9pPr lvl="8"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9pPr>
          </a:lstStyle>
          <a:p/>
        </p:txBody>
      </p:sp>
      <p:sp>
        <p:nvSpPr>
          <p:cNvPr id="7" name="Google Shape;7;p41"/>
          <p:cNvSpPr txBox="1"/>
          <p:nvPr>
            <p:ph idx="1" type="body"/>
          </p:nvPr>
        </p:nvSpPr>
        <p:spPr>
          <a:xfrm>
            <a:off x="786150" y="1261700"/>
            <a:ext cx="7571700" cy="3573600"/>
          </a:xfrm>
          <a:prstGeom prst="rect">
            <a:avLst/>
          </a:prstGeom>
          <a:noFill/>
          <a:ln>
            <a:noFill/>
          </a:ln>
        </p:spPr>
        <p:txBody>
          <a:bodyPr anchorCtr="0" anchor="t" bIns="91425" lIns="91425" spcFirstLastPara="1" rIns="91425" wrap="square" tIns="91425">
            <a:noAutofit/>
          </a:bodyPr>
          <a:lstStyle>
            <a:lvl1pPr indent="-419100" lvl="0" marL="457200" marR="0" rtl="0" algn="l">
              <a:lnSpc>
                <a:spcPct val="100000"/>
              </a:lnSpc>
              <a:spcBef>
                <a:spcPts val="600"/>
              </a:spcBef>
              <a:spcAft>
                <a:spcPts val="0"/>
              </a:spcAft>
              <a:buClr>
                <a:schemeClr val="accent4"/>
              </a:buClr>
              <a:buSzPts val="3000"/>
              <a:buFont typeface="Arial"/>
              <a:buChar char="◎"/>
              <a:defRPr b="0" i="0" sz="3000" u="none" cap="none" strike="noStrike">
                <a:solidFill>
                  <a:schemeClr val="dk1"/>
                </a:solidFill>
                <a:latin typeface="Arial"/>
                <a:ea typeface="Arial"/>
                <a:cs typeface="Arial"/>
                <a:sym typeface="Arial"/>
              </a:defRPr>
            </a:lvl1pPr>
            <a:lvl2pPr indent="-381000" lvl="1" marL="914400" marR="0" rtl="0" algn="l">
              <a:lnSpc>
                <a:spcPct val="100000"/>
              </a:lnSpc>
              <a:spcBef>
                <a:spcPts val="0"/>
              </a:spcBef>
              <a:spcAft>
                <a:spcPts val="0"/>
              </a:spcAft>
              <a:buClr>
                <a:schemeClr val="accent4"/>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lnSpc>
                <a:spcPct val="100000"/>
              </a:lnSpc>
              <a:spcBef>
                <a:spcPts val="0"/>
              </a:spcBef>
              <a:spcAft>
                <a:spcPts val="0"/>
              </a:spcAft>
              <a:buClr>
                <a:schemeClr val="accent4"/>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41"/>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latin typeface="Roboto Slab"/>
              <a:ea typeface="Roboto Slab"/>
              <a:cs typeface="Roboto Slab"/>
              <a:sym typeface="Roboto Slab"/>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2e5747e58bd_0_47"/>
          <p:cNvSpPr txBox="1"/>
          <p:nvPr>
            <p:ph type="ctrTitle"/>
          </p:nvPr>
        </p:nvSpPr>
        <p:spPr>
          <a:xfrm>
            <a:off x="1668310" y="1176450"/>
            <a:ext cx="5807400" cy="1159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5800"/>
              <a:buNone/>
            </a:pPr>
            <a:r>
              <a:rPr lang="en"/>
              <a:t>Allergy-Safe Recipe Scanner</a:t>
            </a:r>
            <a:endParaRPr/>
          </a:p>
        </p:txBody>
      </p:sp>
      <p:pic>
        <p:nvPicPr>
          <p:cNvPr id="71" name="Google Shape;71;g2e5747e58bd_0_47"/>
          <p:cNvPicPr preferRelativeResize="0"/>
          <p:nvPr/>
        </p:nvPicPr>
        <p:blipFill rotWithShape="1">
          <a:blip r:embed="rId3">
            <a:alphaModFix/>
          </a:blip>
          <a:srcRect b="0" l="0" r="0" t="0"/>
          <a:stretch/>
        </p:blipFill>
        <p:spPr>
          <a:xfrm>
            <a:off x="7089924" y="0"/>
            <a:ext cx="2054075" cy="1375450"/>
          </a:xfrm>
          <a:prstGeom prst="rect">
            <a:avLst/>
          </a:prstGeom>
          <a:noFill/>
          <a:ln>
            <a:noFill/>
          </a:ln>
        </p:spPr>
      </p:pic>
      <p:sp>
        <p:nvSpPr>
          <p:cNvPr id="72" name="Google Shape;72;g2e5747e58bd_0_47"/>
          <p:cNvSpPr txBox="1"/>
          <p:nvPr>
            <p:ph idx="4294967295" type="body"/>
          </p:nvPr>
        </p:nvSpPr>
        <p:spPr>
          <a:xfrm>
            <a:off x="2517300" y="2760400"/>
            <a:ext cx="5214900" cy="2038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SzPts val="3000"/>
              <a:buNone/>
            </a:pPr>
            <a:r>
              <a:rPr lang="en" sz="1800"/>
              <a:t>Group name: </a:t>
            </a:r>
            <a:r>
              <a:rPr b="1" lang="en" sz="1800"/>
              <a:t>The Unnamed</a:t>
            </a:r>
            <a:endParaRPr b="1" sz="1800"/>
          </a:p>
          <a:p>
            <a:pPr indent="0" lvl="0" marL="0" rtl="0" algn="l">
              <a:lnSpc>
                <a:spcPct val="100000"/>
              </a:lnSpc>
              <a:spcBef>
                <a:spcPts val="600"/>
              </a:spcBef>
              <a:spcAft>
                <a:spcPts val="0"/>
              </a:spcAft>
              <a:buSzPts val="3000"/>
              <a:buNone/>
            </a:pPr>
            <a:r>
              <a:rPr lang="en" sz="1800"/>
              <a:t>Eric Middlekamp</a:t>
            </a:r>
            <a:endParaRPr sz="1800"/>
          </a:p>
          <a:p>
            <a:pPr indent="0" lvl="0" marL="0" rtl="0" algn="l">
              <a:lnSpc>
                <a:spcPct val="100000"/>
              </a:lnSpc>
              <a:spcBef>
                <a:spcPts val="600"/>
              </a:spcBef>
              <a:spcAft>
                <a:spcPts val="0"/>
              </a:spcAft>
              <a:buSzPts val="3000"/>
              <a:buNone/>
            </a:pPr>
            <a:r>
              <a:rPr lang="en" sz="1800"/>
              <a:t>Daeyong Jung</a:t>
            </a:r>
            <a:endParaRPr sz="1800"/>
          </a:p>
          <a:p>
            <a:pPr indent="0" lvl="0" marL="0" rtl="0" algn="l">
              <a:lnSpc>
                <a:spcPct val="100000"/>
              </a:lnSpc>
              <a:spcBef>
                <a:spcPts val="600"/>
              </a:spcBef>
              <a:spcAft>
                <a:spcPts val="0"/>
              </a:spcAft>
              <a:buSzPts val="3000"/>
              <a:buNone/>
            </a:pPr>
            <a:r>
              <a:rPr lang="en" sz="1800"/>
              <a:t>Hamoud Alhazmi</a:t>
            </a:r>
            <a:endParaRPr sz="1800"/>
          </a:p>
          <a:p>
            <a:pPr indent="0" lvl="0" marL="0" rtl="0" algn="l">
              <a:lnSpc>
                <a:spcPct val="100000"/>
              </a:lnSpc>
              <a:spcBef>
                <a:spcPts val="600"/>
              </a:spcBef>
              <a:spcAft>
                <a:spcPts val="0"/>
              </a:spcAft>
              <a:buSzPts val="3000"/>
              <a:buNone/>
            </a:pPr>
            <a:r>
              <a:rPr lang="en" sz="1800"/>
              <a:t>Wenyu Wang</a:t>
            </a:r>
            <a:endParaRPr sz="1800"/>
          </a:p>
          <a:p>
            <a:pPr indent="0" lvl="0" marL="0" rtl="0" algn="l">
              <a:lnSpc>
                <a:spcPct val="100000"/>
              </a:lnSpc>
              <a:spcBef>
                <a:spcPts val="600"/>
              </a:spcBef>
              <a:spcAft>
                <a:spcPts val="0"/>
              </a:spcAft>
              <a:buSzPts val="3000"/>
              <a:buNone/>
            </a:pPr>
            <a:r>
              <a:rPr b="1" lang="en" sz="1800">
                <a:solidFill>
                  <a:schemeClr val="accent1"/>
                </a:solidFill>
              </a:rPr>
              <a:t>Final presentation</a:t>
            </a:r>
            <a:r>
              <a:rPr b="1" lang="en" sz="1800">
                <a:solidFill>
                  <a:schemeClr val="accent1"/>
                </a:solidFill>
              </a:rPr>
              <a:t> - July 25, 2024</a:t>
            </a:r>
            <a:endParaRPr b="1" sz="1800">
              <a:solidFill>
                <a:schemeClr val="accent1"/>
              </a:solidFill>
            </a:endParaRPr>
          </a:p>
          <a:p>
            <a:pPr indent="0" lvl="0" marL="0" rtl="0" algn="l">
              <a:lnSpc>
                <a:spcPct val="100000"/>
              </a:lnSpc>
              <a:spcBef>
                <a:spcPts val="600"/>
              </a:spcBef>
              <a:spcAft>
                <a:spcPts val="0"/>
              </a:spcAft>
              <a:buSzPts val="3000"/>
              <a:buNone/>
            </a:pPr>
            <a:r>
              <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2ee5860f079_0_8"/>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000"/>
              <a:buNone/>
            </a:pPr>
            <a:r>
              <a:rPr lang="en" sz="3000"/>
              <a:t>Overview</a:t>
            </a:r>
            <a:endParaRPr sz="3000"/>
          </a:p>
        </p:txBody>
      </p:sp>
      <p:sp>
        <p:nvSpPr>
          <p:cNvPr id="78" name="Google Shape;78;g2ee5860f079_0_8"/>
          <p:cNvSpPr txBox="1"/>
          <p:nvPr>
            <p:ph idx="1" type="body"/>
          </p:nvPr>
        </p:nvSpPr>
        <p:spPr>
          <a:xfrm>
            <a:off x="786150" y="1261700"/>
            <a:ext cx="7571700" cy="3573600"/>
          </a:xfrm>
          <a:prstGeom prst="rect">
            <a:avLst/>
          </a:prstGeom>
          <a:noFill/>
          <a:ln>
            <a:noFill/>
          </a:ln>
        </p:spPr>
        <p:txBody>
          <a:bodyPr anchorCtr="0" anchor="t" bIns="91425" lIns="91425" spcFirstLastPara="1" rIns="91425" wrap="square" tIns="91425">
            <a:noAutofit/>
          </a:bodyPr>
          <a:lstStyle/>
          <a:p>
            <a:pPr indent="-361950" lvl="0" marL="457200" rtl="0" algn="l">
              <a:lnSpc>
                <a:spcPct val="100000"/>
              </a:lnSpc>
              <a:spcBef>
                <a:spcPts val="0"/>
              </a:spcBef>
              <a:spcAft>
                <a:spcPts val="0"/>
              </a:spcAft>
              <a:buClr>
                <a:srgbClr val="3C78D8"/>
              </a:buClr>
              <a:buSzPts val="2100"/>
              <a:buChar char="◎"/>
            </a:pPr>
            <a:r>
              <a:rPr lang="en" sz="2100"/>
              <a:t>Demo</a:t>
            </a:r>
            <a:endParaRPr sz="2100"/>
          </a:p>
          <a:p>
            <a:pPr indent="0" lvl="0" marL="4572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Architecture</a:t>
            </a:r>
            <a:endParaRPr sz="2100"/>
          </a:p>
          <a:p>
            <a:pPr indent="0" lvl="0" marL="9144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Features</a:t>
            </a:r>
            <a:endParaRPr sz="2100"/>
          </a:p>
          <a:p>
            <a:pPr indent="0" lvl="0" marL="4572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Retrospective</a:t>
            </a:r>
            <a:endParaRPr sz="2100"/>
          </a:p>
          <a:p>
            <a:pPr indent="0" lvl="0" marL="4572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Future Plans</a:t>
            </a:r>
            <a:endParaRPr sz="2100"/>
          </a:p>
          <a:p>
            <a:pPr indent="0" lvl="0" marL="457200" rtl="0" algn="l">
              <a:lnSpc>
                <a:spcPct val="100000"/>
              </a:lnSpc>
              <a:spcBef>
                <a:spcPts val="0"/>
              </a:spcBef>
              <a:spcAft>
                <a:spcPts val="0"/>
              </a:spcAft>
              <a:buSzPts val="2400"/>
              <a:buNone/>
            </a:pPr>
            <a:r>
              <a:t/>
            </a:r>
            <a:endParaRPr sz="2100"/>
          </a:p>
        </p:txBody>
      </p:sp>
      <p:sp>
        <p:nvSpPr>
          <p:cNvPr id="79" name="Google Shape;79;g2ee5860f079_0_8"/>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2ee5860f079_0_0"/>
          <p:cNvSpPr txBox="1"/>
          <p:nvPr>
            <p:ph type="ctrTitle"/>
          </p:nvPr>
        </p:nvSpPr>
        <p:spPr>
          <a:xfrm>
            <a:off x="2437903" y="1991850"/>
            <a:ext cx="3947400" cy="115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Demo!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2ee3dac99f1_0_0"/>
          <p:cNvSpPr/>
          <p:nvPr/>
        </p:nvSpPr>
        <p:spPr>
          <a:xfrm rot="-1141364">
            <a:off x="4916329" y="2915291"/>
            <a:ext cx="1368643" cy="170774"/>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g2ee3dac99f1_0_0"/>
          <p:cNvSpPr/>
          <p:nvPr/>
        </p:nvSpPr>
        <p:spPr>
          <a:xfrm rot="-1240811">
            <a:off x="4291976" y="1985802"/>
            <a:ext cx="2269000" cy="152844"/>
          </a:xfrm>
          <a:prstGeom prst="lef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g2ee3dac99f1_0_0"/>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92" name="Google Shape;92;g2ee3dac99f1_0_0"/>
          <p:cNvSpPr/>
          <p:nvPr/>
        </p:nvSpPr>
        <p:spPr>
          <a:xfrm>
            <a:off x="272175" y="268550"/>
            <a:ext cx="1749600" cy="20784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g2ee3dac99f1_0_0"/>
          <p:cNvSpPr/>
          <p:nvPr/>
        </p:nvSpPr>
        <p:spPr>
          <a:xfrm>
            <a:off x="272175" y="2858100"/>
            <a:ext cx="2184600" cy="12216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g2ee3dac99f1_0_0"/>
          <p:cNvSpPr/>
          <p:nvPr/>
        </p:nvSpPr>
        <p:spPr>
          <a:xfrm>
            <a:off x="6295900" y="192450"/>
            <a:ext cx="1984500" cy="3441000"/>
          </a:xfrm>
          <a:prstGeom prst="roundRect">
            <a:avLst>
              <a:gd fmla="val 16667" name="adj"/>
            </a:avLst>
          </a:prstGeom>
          <a:solidFill>
            <a:srgbClr val="6D9EEB"/>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D9EEB"/>
              </a:solidFill>
            </a:endParaRPr>
          </a:p>
        </p:txBody>
      </p:sp>
      <p:sp>
        <p:nvSpPr>
          <p:cNvPr id="95" name="Google Shape;95;g2ee3dac99f1_0_0"/>
          <p:cNvSpPr/>
          <p:nvPr/>
        </p:nvSpPr>
        <p:spPr>
          <a:xfrm>
            <a:off x="6071500" y="4161800"/>
            <a:ext cx="2433300" cy="770400"/>
          </a:xfrm>
          <a:prstGeom prst="rect">
            <a:avLst/>
          </a:prstGeom>
          <a:solidFill>
            <a:srgbClr val="3C78D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g2ee3dac99f1_0_0"/>
          <p:cNvSpPr/>
          <p:nvPr/>
        </p:nvSpPr>
        <p:spPr>
          <a:xfrm>
            <a:off x="3316288" y="2582250"/>
            <a:ext cx="1749600" cy="1515000"/>
          </a:xfrm>
          <a:prstGeom prst="rect">
            <a:avLst/>
          </a:prstGeom>
          <a:solidFill>
            <a:srgbClr val="E691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g2ee3dac99f1_0_0"/>
          <p:cNvSpPr txBox="1"/>
          <p:nvPr/>
        </p:nvSpPr>
        <p:spPr>
          <a:xfrm>
            <a:off x="6360400" y="1243650"/>
            <a:ext cx="1855500" cy="133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lt1"/>
                </a:solidFill>
              </a:rPr>
              <a:t>User</a:t>
            </a:r>
            <a:endParaRPr b="1" sz="3000">
              <a:solidFill>
                <a:schemeClr val="lt1"/>
              </a:solidFill>
            </a:endParaRPr>
          </a:p>
          <a:p>
            <a:pPr indent="0" lvl="0" marL="0" rtl="0" algn="ctr">
              <a:spcBef>
                <a:spcPts val="0"/>
              </a:spcBef>
              <a:spcAft>
                <a:spcPts val="0"/>
              </a:spcAft>
              <a:buNone/>
            </a:pPr>
            <a:r>
              <a:rPr b="1" lang="en" sz="3000">
                <a:solidFill>
                  <a:schemeClr val="lt1"/>
                </a:solidFill>
              </a:rPr>
              <a:t>Interface</a:t>
            </a:r>
            <a:endParaRPr b="1" sz="3000">
              <a:solidFill>
                <a:schemeClr val="lt1"/>
              </a:solidFill>
            </a:endParaRPr>
          </a:p>
        </p:txBody>
      </p:sp>
      <p:sp>
        <p:nvSpPr>
          <p:cNvPr id="98" name="Google Shape;98;g2ee3dac99f1_0_0"/>
          <p:cNvSpPr txBox="1"/>
          <p:nvPr/>
        </p:nvSpPr>
        <p:spPr>
          <a:xfrm>
            <a:off x="6518925" y="4161800"/>
            <a:ext cx="1633200" cy="49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chemeClr val="lt1"/>
                </a:solidFill>
              </a:rPr>
              <a:t>User</a:t>
            </a:r>
            <a:endParaRPr b="1" sz="1900">
              <a:solidFill>
                <a:schemeClr val="lt1"/>
              </a:solidFill>
            </a:endParaRPr>
          </a:p>
          <a:p>
            <a:pPr indent="0" lvl="0" marL="0" rtl="0" algn="ctr">
              <a:spcBef>
                <a:spcPts val="0"/>
              </a:spcBef>
              <a:spcAft>
                <a:spcPts val="0"/>
              </a:spcAft>
              <a:buNone/>
            </a:pPr>
            <a:r>
              <a:rPr b="1" lang="en" sz="1900">
                <a:solidFill>
                  <a:schemeClr val="lt1"/>
                </a:solidFill>
              </a:rPr>
              <a:t>Information</a:t>
            </a:r>
            <a:endParaRPr b="1" sz="1900">
              <a:solidFill>
                <a:schemeClr val="lt1"/>
              </a:solidFill>
            </a:endParaRPr>
          </a:p>
        </p:txBody>
      </p:sp>
      <p:sp>
        <p:nvSpPr>
          <p:cNvPr id="99" name="Google Shape;99;g2ee3dac99f1_0_0"/>
          <p:cNvSpPr/>
          <p:nvPr/>
        </p:nvSpPr>
        <p:spPr>
          <a:xfrm>
            <a:off x="3319275" y="1134275"/>
            <a:ext cx="1749600" cy="628800"/>
          </a:xfrm>
          <a:prstGeom prst="rect">
            <a:avLst/>
          </a:prstGeom>
          <a:solidFill>
            <a:srgbClr val="99999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g2ee3dac99f1_0_0"/>
          <p:cNvSpPr txBox="1"/>
          <p:nvPr/>
        </p:nvSpPr>
        <p:spPr>
          <a:xfrm>
            <a:off x="3316288" y="1202075"/>
            <a:ext cx="1749600" cy="49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1"/>
                </a:solidFill>
              </a:rPr>
              <a:t>Website</a:t>
            </a:r>
            <a:endParaRPr b="1" sz="2400">
              <a:solidFill>
                <a:schemeClr val="lt1"/>
              </a:solidFill>
            </a:endParaRPr>
          </a:p>
        </p:txBody>
      </p:sp>
      <p:sp>
        <p:nvSpPr>
          <p:cNvPr id="101" name="Google Shape;101;g2ee3dac99f1_0_0"/>
          <p:cNvSpPr txBox="1"/>
          <p:nvPr/>
        </p:nvSpPr>
        <p:spPr>
          <a:xfrm>
            <a:off x="3316300" y="3093150"/>
            <a:ext cx="1749600" cy="49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lt1"/>
                </a:solidFill>
              </a:rPr>
              <a:t>Backend</a:t>
            </a:r>
            <a:endParaRPr b="1" sz="2500">
              <a:solidFill>
                <a:schemeClr val="lt1"/>
              </a:solidFill>
            </a:endParaRPr>
          </a:p>
        </p:txBody>
      </p:sp>
      <p:sp>
        <p:nvSpPr>
          <p:cNvPr id="102" name="Google Shape;102;g2ee3dac99f1_0_0"/>
          <p:cNvSpPr txBox="1"/>
          <p:nvPr/>
        </p:nvSpPr>
        <p:spPr>
          <a:xfrm>
            <a:off x="173775" y="3222300"/>
            <a:ext cx="2381400" cy="49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lt1"/>
                </a:solidFill>
              </a:rPr>
              <a:t>Elasticsearch</a:t>
            </a:r>
            <a:endParaRPr b="1" sz="2500">
              <a:solidFill>
                <a:schemeClr val="lt1"/>
              </a:solidFill>
            </a:endParaRPr>
          </a:p>
        </p:txBody>
      </p:sp>
      <p:sp>
        <p:nvSpPr>
          <p:cNvPr id="103" name="Google Shape;103;g2ee3dac99f1_0_0"/>
          <p:cNvSpPr txBox="1"/>
          <p:nvPr/>
        </p:nvSpPr>
        <p:spPr>
          <a:xfrm>
            <a:off x="-43725" y="1061150"/>
            <a:ext cx="2381400" cy="49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lt1"/>
                </a:solidFill>
              </a:rPr>
              <a:t>Dataset</a:t>
            </a:r>
            <a:endParaRPr b="1" sz="2500">
              <a:solidFill>
                <a:schemeClr val="lt1"/>
              </a:solidFill>
            </a:endParaRPr>
          </a:p>
        </p:txBody>
      </p:sp>
      <p:sp>
        <p:nvSpPr>
          <p:cNvPr id="104" name="Google Shape;104;g2ee3dac99f1_0_0"/>
          <p:cNvSpPr/>
          <p:nvPr/>
        </p:nvSpPr>
        <p:spPr>
          <a:xfrm>
            <a:off x="5123800" y="1378175"/>
            <a:ext cx="1172100" cy="141000"/>
          </a:xfrm>
          <a:prstGeom prst="lef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g2ee3dac99f1_0_0"/>
          <p:cNvSpPr/>
          <p:nvPr/>
        </p:nvSpPr>
        <p:spPr>
          <a:xfrm>
            <a:off x="4147675" y="1777925"/>
            <a:ext cx="131400" cy="770400"/>
          </a:xfrm>
          <a:prstGeom prst="down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g2ee3dac99f1_0_0"/>
          <p:cNvSpPr/>
          <p:nvPr/>
        </p:nvSpPr>
        <p:spPr>
          <a:xfrm>
            <a:off x="1070975" y="2365075"/>
            <a:ext cx="131400" cy="493200"/>
          </a:xfrm>
          <a:prstGeom prst="down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g2ee3dac99f1_0_0"/>
          <p:cNvSpPr/>
          <p:nvPr/>
        </p:nvSpPr>
        <p:spPr>
          <a:xfrm>
            <a:off x="2444925" y="3116625"/>
            <a:ext cx="871500" cy="141000"/>
          </a:xfrm>
          <a:prstGeom prst="lef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g2ee3dac99f1_0_0"/>
          <p:cNvSpPr/>
          <p:nvPr/>
        </p:nvSpPr>
        <p:spPr>
          <a:xfrm>
            <a:off x="2456775" y="3609850"/>
            <a:ext cx="859800" cy="1410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g2ee3dac99f1_0_0"/>
          <p:cNvSpPr/>
          <p:nvPr/>
        </p:nvSpPr>
        <p:spPr>
          <a:xfrm>
            <a:off x="7153650" y="3651025"/>
            <a:ext cx="131400" cy="493200"/>
          </a:xfrm>
          <a:prstGeom prst="down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g2ee3dac99f1_0_0"/>
          <p:cNvSpPr/>
          <p:nvPr/>
        </p:nvSpPr>
        <p:spPr>
          <a:xfrm>
            <a:off x="7424025" y="3633325"/>
            <a:ext cx="131400" cy="4932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2ee3dac99f1_0_18"/>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000"/>
              <a:buNone/>
            </a:pPr>
            <a:r>
              <a:rPr lang="en" sz="3000"/>
              <a:t>Feature 1: User-Friendly</a:t>
            </a:r>
            <a:endParaRPr sz="3000"/>
          </a:p>
        </p:txBody>
      </p:sp>
      <p:sp>
        <p:nvSpPr>
          <p:cNvPr id="116" name="Google Shape;116;g2ee3dac99f1_0_18"/>
          <p:cNvSpPr txBox="1"/>
          <p:nvPr>
            <p:ph idx="1" type="body"/>
          </p:nvPr>
        </p:nvSpPr>
        <p:spPr>
          <a:xfrm>
            <a:off x="786150" y="1261700"/>
            <a:ext cx="7571700" cy="3573600"/>
          </a:xfrm>
          <a:prstGeom prst="rect">
            <a:avLst/>
          </a:prstGeom>
          <a:noFill/>
          <a:ln>
            <a:noFill/>
          </a:ln>
        </p:spPr>
        <p:txBody>
          <a:bodyPr anchorCtr="0" anchor="t" bIns="91425" lIns="91425" spcFirstLastPara="1" rIns="91425" wrap="square" tIns="91425">
            <a:noAutofit/>
          </a:bodyPr>
          <a:lstStyle/>
          <a:p>
            <a:pPr indent="-361950" lvl="0" marL="457200" rtl="0" algn="l">
              <a:lnSpc>
                <a:spcPct val="100000"/>
              </a:lnSpc>
              <a:spcBef>
                <a:spcPts val="0"/>
              </a:spcBef>
              <a:spcAft>
                <a:spcPts val="0"/>
              </a:spcAft>
              <a:buClr>
                <a:srgbClr val="3C78D8"/>
              </a:buClr>
              <a:buSzPts val="2100"/>
              <a:buChar char="◎"/>
            </a:pPr>
            <a:r>
              <a:rPr lang="en" sz="2100"/>
              <a:t>Simple and intuitive interface</a:t>
            </a:r>
            <a:endParaRPr sz="2100"/>
          </a:p>
          <a:p>
            <a:pPr indent="0" lvl="0" marL="4572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Free </a:t>
            </a:r>
            <a:r>
              <a:rPr lang="en" sz="2100"/>
              <a:t>customization</a:t>
            </a:r>
            <a:endParaRPr sz="2100"/>
          </a:p>
          <a:p>
            <a:pPr indent="-361950" lvl="1" marL="914400" rtl="0" algn="l">
              <a:lnSpc>
                <a:spcPct val="100000"/>
              </a:lnSpc>
              <a:spcBef>
                <a:spcPts val="0"/>
              </a:spcBef>
              <a:spcAft>
                <a:spcPts val="0"/>
              </a:spcAft>
              <a:buClr>
                <a:srgbClr val="1155CC"/>
              </a:buClr>
              <a:buSzPts val="2100"/>
              <a:buChar char="○"/>
            </a:pPr>
            <a:r>
              <a:rPr lang="en" sz="2100"/>
              <a:t>Users can freely choose any ingredients they want to skip based on their allergies, dietary restrictions, and personal preferences.</a:t>
            </a:r>
            <a:endParaRPr sz="2100"/>
          </a:p>
          <a:p>
            <a:pPr indent="0" lvl="0" marL="9144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Convenient to use</a:t>
            </a:r>
            <a:endParaRPr sz="2100"/>
          </a:p>
          <a:p>
            <a:pPr indent="-361950" lvl="1" marL="914400" rtl="0" algn="l">
              <a:lnSpc>
                <a:spcPct val="100000"/>
              </a:lnSpc>
              <a:spcBef>
                <a:spcPts val="0"/>
              </a:spcBef>
              <a:spcAft>
                <a:spcPts val="0"/>
              </a:spcAft>
              <a:buClr>
                <a:srgbClr val="1155CC"/>
              </a:buClr>
              <a:buSzPts val="2100"/>
              <a:buChar char="○"/>
            </a:pPr>
            <a:r>
              <a:rPr lang="en" sz="2100"/>
              <a:t>No login required</a:t>
            </a:r>
            <a:endParaRPr sz="2100"/>
          </a:p>
          <a:p>
            <a:pPr indent="-361950" lvl="1" marL="914400" rtl="0" algn="l">
              <a:lnSpc>
                <a:spcPct val="100000"/>
              </a:lnSpc>
              <a:spcBef>
                <a:spcPts val="0"/>
              </a:spcBef>
              <a:spcAft>
                <a:spcPts val="0"/>
              </a:spcAft>
              <a:buClr>
                <a:srgbClr val="1155CC"/>
              </a:buClr>
              <a:buSzPts val="2100"/>
              <a:buChar char="○"/>
            </a:pPr>
            <a:r>
              <a:rPr lang="en" sz="2100"/>
              <a:t>Users can enter recipes in text or a link to the site</a:t>
            </a:r>
            <a:endParaRPr sz="2100"/>
          </a:p>
          <a:p>
            <a:pPr indent="0" lvl="0" marL="457200" rtl="0" algn="l">
              <a:lnSpc>
                <a:spcPct val="100000"/>
              </a:lnSpc>
              <a:spcBef>
                <a:spcPts val="0"/>
              </a:spcBef>
              <a:spcAft>
                <a:spcPts val="0"/>
              </a:spcAft>
              <a:buNone/>
            </a:pPr>
            <a:r>
              <a:t/>
            </a:r>
            <a:endParaRPr sz="2100"/>
          </a:p>
          <a:p>
            <a:pPr indent="0" lvl="0" marL="457200" rtl="0" algn="l">
              <a:lnSpc>
                <a:spcPct val="100000"/>
              </a:lnSpc>
              <a:spcBef>
                <a:spcPts val="0"/>
              </a:spcBef>
              <a:spcAft>
                <a:spcPts val="0"/>
              </a:spcAft>
              <a:buSzPts val="2400"/>
              <a:buNone/>
            </a:pPr>
            <a:r>
              <a:t/>
            </a:r>
            <a:endParaRPr sz="2100"/>
          </a:p>
        </p:txBody>
      </p:sp>
      <p:sp>
        <p:nvSpPr>
          <p:cNvPr id="117" name="Google Shape;117;g2ee3dac99f1_0_18"/>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2ee3dac99f1_0_26"/>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000"/>
              <a:buNone/>
            </a:pPr>
            <a:r>
              <a:rPr lang="en" sz="3000"/>
              <a:t>Feature 2: Lots of Information</a:t>
            </a:r>
            <a:endParaRPr sz="3000"/>
          </a:p>
        </p:txBody>
      </p:sp>
      <p:sp>
        <p:nvSpPr>
          <p:cNvPr id="123" name="Google Shape;123;g2ee3dac99f1_0_26"/>
          <p:cNvSpPr txBox="1"/>
          <p:nvPr>
            <p:ph idx="1" type="body"/>
          </p:nvPr>
        </p:nvSpPr>
        <p:spPr>
          <a:xfrm>
            <a:off x="786150" y="1261700"/>
            <a:ext cx="7571700" cy="3573600"/>
          </a:xfrm>
          <a:prstGeom prst="rect">
            <a:avLst/>
          </a:prstGeom>
          <a:noFill/>
          <a:ln>
            <a:noFill/>
          </a:ln>
        </p:spPr>
        <p:txBody>
          <a:bodyPr anchorCtr="0" anchor="t" bIns="91425" lIns="91425" spcFirstLastPara="1" rIns="91425" wrap="square" tIns="91425">
            <a:noAutofit/>
          </a:bodyPr>
          <a:lstStyle/>
          <a:p>
            <a:pPr indent="-361950" lvl="0" marL="457200" rtl="0" algn="l">
              <a:lnSpc>
                <a:spcPct val="100000"/>
              </a:lnSpc>
              <a:spcBef>
                <a:spcPts val="0"/>
              </a:spcBef>
              <a:spcAft>
                <a:spcPts val="0"/>
              </a:spcAft>
              <a:buClr>
                <a:srgbClr val="3C78D8"/>
              </a:buClr>
              <a:buSzPts val="2100"/>
              <a:buChar char="◎"/>
            </a:pPr>
            <a:r>
              <a:rPr lang="en" sz="2100"/>
              <a:t>By using a tree-structured dataset, we can provide users with information not only about the user's allergen, but also about its parent or child ingredients, giving users more options for substitution.</a:t>
            </a:r>
            <a:endParaRPr sz="2100"/>
          </a:p>
          <a:p>
            <a:pPr indent="0" lvl="0" marL="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The app alerts users to foods that contain the user's allergen, even those that are not commonly known.</a:t>
            </a:r>
            <a:endParaRPr sz="2100"/>
          </a:p>
          <a:p>
            <a:pPr indent="0" lvl="0" marL="4572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Diverse dataset</a:t>
            </a:r>
            <a:endParaRPr sz="2100"/>
          </a:p>
          <a:p>
            <a:pPr indent="0" lvl="0" marL="457200" rtl="0" algn="l">
              <a:lnSpc>
                <a:spcPct val="100000"/>
              </a:lnSpc>
              <a:spcBef>
                <a:spcPts val="0"/>
              </a:spcBef>
              <a:spcAft>
                <a:spcPts val="0"/>
              </a:spcAft>
              <a:buNone/>
            </a:pPr>
            <a:r>
              <a:t/>
            </a:r>
            <a:endParaRPr sz="2100"/>
          </a:p>
          <a:p>
            <a:pPr indent="0" lvl="0" marL="457200" rtl="0" algn="l">
              <a:lnSpc>
                <a:spcPct val="100000"/>
              </a:lnSpc>
              <a:spcBef>
                <a:spcPts val="0"/>
              </a:spcBef>
              <a:spcAft>
                <a:spcPts val="0"/>
              </a:spcAft>
              <a:buSzPts val="2400"/>
              <a:buNone/>
            </a:pPr>
            <a:r>
              <a:t/>
            </a:r>
            <a:endParaRPr sz="2100"/>
          </a:p>
        </p:txBody>
      </p:sp>
      <p:sp>
        <p:nvSpPr>
          <p:cNvPr id="124" name="Google Shape;124;g2ee3dac99f1_0_26"/>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2ee3dac99f1_0_36"/>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000"/>
              <a:buNone/>
            </a:pPr>
            <a:r>
              <a:rPr lang="en" sz="3000"/>
              <a:t>Feature 3: Elasticsearch</a:t>
            </a:r>
            <a:endParaRPr sz="3000"/>
          </a:p>
        </p:txBody>
      </p:sp>
      <p:sp>
        <p:nvSpPr>
          <p:cNvPr id="130" name="Google Shape;130;g2ee3dac99f1_0_36"/>
          <p:cNvSpPr txBox="1"/>
          <p:nvPr>
            <p:ph idx="1" type="body"/>
          </p:nvPr>
        </p:nvSpPr>
        <p:spPr>
          <a:xfrm>
            <a:off x="786150" y="1261700"/>
            <a:ext cx="7571700" cy="3573600"/>
          </a:xfrm>
          <a:prstGeom prst="rect">
            <a:avLst/>
          </a:prstGeom>
          <a:noFill/>
          <a:ln>
            <a:noFill/>
          </a:ln>
        </p:spPr>
        <p:txBody>
          <a:bodyPr anchorCtr="0" anchor="t" bIns="91425" lIns="91425" spcFirstLastPara="1" rIns="91425" wrap="square" tIns="91425">
            <a:noAutofit/>
          </a:bodyPr>
          <a:lstStyle/>
          <a:p>
            <a:pPr indent="-406400" lvl="0" marL="457200" rtl="0" algn="l">
              <a:lnSpc>
                <a:spcPct val="100000"/>
              </a:lnSpc>
              <a:spcBef>
                <a:spcPts val="0"/>
              </a:spcBef>
              <a:spcAft>
                <a:spcPts val="0"/>
              </a:spcAft>
              <a:buClr>
                <a:srgbClr val="3C78D8"/>
              </a:buClr>
              <a:buSzPts val="2800"/>
              <a:buChar char="◎"/>
            </a:pPr>
            <a:r>
              <a:rPr lang="en" sz="2800"/>
              <a:t>Fast search</a:t>
            </a:r>
            <a:endParaRPr sz="2800"/>
          </a:p>
          <a:p>
            <a:pPr indent="0" lvl="0" marL="0" rtl="0" algn="l">
              <a:lnSpc>
                <a:spcPct val="100000"/>
              </a:lnSpc>
              <a:spcBef>
                <a:spcPts val="0"/>
              </a:spcBef>
              <a:spcAft>
                <a:spcPts val="0"/>
              </a:spcAft>
              <a:buNone/>
            </a:pPr>
            <a:r>
              <a:t/>
            </a:r>
            <a:endParaRPr sz="2800"/>
          </a:p>
          <a:p>
            <a:pPr indent="0" lvl="0" marL="0" rtl="0" algn="l">
              <a:lnSpc>
                <a:spcPct val="100000"/>
              </a:lnSpc>
              <a:spcBef>
                <a:spcPts val="0"/>
              </a:spcBef>
              <a:spcAft>
                <a:spcPts val="0"/>
              </a:spcAft>
              <a:buNone/>
            </a:pPr>
            <a:r>
              <a:t/>
            </a:r>
            <a:endParaRPr sz="2800"/>
          </a:p>
          <a:p>
            <a:pPr indent="0" lvl="0" marL="457200" rtl="0" algn="l">
              <a:lnSpc>
                <a:spcPct val="100000"/>
              </a:lnSpc>
              <a:spcBef>
                <a:spcPts val="0"/>
              </a:spcBef>
              <a:spcAft>
                <a:spcPts val="0"/>
              </a:spcAft>
              <a:buNone/>
            </a:pPr>
            <a:r>
              <a:t/>
            </a:r>
            <a:endParaRPr sz="2800"/>
          </a:p>
          <a:p>
            <a:pPr indent="-406400" lvl="0" marL="457200" rtl="0" algn="l">
              <a:lnSpc>
                <a:spcPct val="100000"/>
              </a:lnSpc>
              <a:spcBef>
                <a:spcPts val="0"/>
              </a:spcBef>
              <a:spcAft>
                <a:spcPts val="0"/>
              </a:spcAft>
              <a:buClr>
                <a:srgbClr val="3C78D8"/>
              </a:buClr>
              <a:buSzPts val="2800"/>
              <a:buChar char="◎"/>
            </a:pPr>
            <a:r>
              <a:rPr lang="en" sz="2800"/>
              <a:t>C</a:t>
            </a:r>
            <a:r>
              <a:rPr lang="en" sz="2800"/>
              <a:t>an handle huge datasets and fixes.</a:t>
            </a:r>
            <a:endParaRPr sz="2800"/>
          </a:p>
          <a:p>
            <a:pPr indent="0" lvl="0" marL="457200" rtl="0" algn="l">
              <a:lnSpc>
                <a:spcPct val="100000"/>
              </a:lnSpc>
              <a:spcBef>
                <a:spcPts val="0"/>
              </a:spcBef>
              <a:spcAft>
                <a:spcPts val="0"/>
              </a:spcAft>
              <a:buNone/>
            </a:pPr>
            <a:r>
              <a:t/>
            </a:r>
            <a:endParaRPr sz="2100"/>
          </a:p>
          <a:p>
            <a:pPr indent="0" lvl="0" marL="457200" rtl="0" algn="l">
              <a:lnSpc>
                <a:spcPct val="100000"/>
              </a:lnSpc>
              <a:spcBef>
                <a:spcPts val="0"/>
              </a:spcBef>
              <a:spcAft>
                <a:spcPts val="0"/>
              </a:spcAft>
              <a:buSzPts val="2400"/>
              <a:buNone/>
            </a:pPr>
            <a:r>
              <a:t/>
            </a:r>
            <a:endParaRPr sz="2100"/>
          </a:p>
        </p:txBody>
      </p:sp>
      <p:sp>
        <p:nvSpPr>
          <p:cNvPr id="131" name="Google Shape;131;g2ee3dac99f1_0_36"/>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2ee5860f079_0_14"/>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000"/>
              <a:buNone/>
            </a:pPr>
            <a:r>
              <a:rPr lang="en" sz="3000"/>
              <a:t>Retrospective</a:t>
            </a:r>
            <a:endParaRPr sz="3000"/>
          </a:p>
        </p:txBody>
      </p:sp>
      <p:sp>
        <p:nvSpPr>
          <p:cNvPr id="137" name="Google Shape;137;g2ee5860f079_0_14"/>
          <p:cNvSpPr txBox="1"/>
          <p:nvPr>
            <p:ph idx="1" type="body"/>
          </p:nvPr>
        </p:nvSpPr>
        <p:spPr>
          <a:xfrm>
            <a:off x="786150" y="1261700"/>
            <a:ext cx="7571700" cy="3573600"/>
          </a:xfrm>
          <a:prstGeom prst="rect">
            <a:avLst/>
          </a:prstGeom>
          <a:noFill/>
          <a:ln>
            <a:noFill/>
          </a:ln>
        </p:spPr>
        <p:txBody>
          <a:bodyPr anchorCtr="0" anchor="t" bIns="91425" lIns="91425" spcFirstLastPara="1" rIns="91425" wrap="square" tIns="91425">
            <a:noAutofit/>
          </a:bodyPr>
          <a:lstStyle/>
          <a:p>
            <a:pPr indent="-361950" lvl="0" marL="457200" rtl="0" algn="l">
              <a:lnSpc>
                <a:spcPct val="100000"/>
              </a:lnSpc>
              <a:spcBef>
                <a:spcPts val="0"/>
              </a:spcBef>
              <a:spcAft>
                <a:spcPts val="0"/>
              </a:spcAft>
              <a:buClr>
                <a:srgbClr val="3C78D8"/>
              </a:buClr>
              <a:buSzPts val="2100"/>
              <a:buChar char="◎"/>
            </a:pPr>
            <a:r>
              <a:rPr lang="en" sz="2100"/>
              <a:t>Lots of time spent on data set design</a:t>
            </a:r>
            <a:endParaRPr sz="2100"/>
          </a:p>
          <a:p>
            <a:pPr indent="0" lvl="0" marL="4572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Committed to making ElasticSearch and backend integrated</a:t>
            </a:r>
            <a:endParaRPr sz="2100"/>
          </a:p>
          <a:p>
            <a:pPr indent="0" lvl="0" marL="4572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Created a solid, functional, MVP</a:t>
            </a:r>
            <a:endParaRPr sz="2100"/>
          </a:p>
          <a:p>
            <a:pPr indent="0" lvl="0" marL="4572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Team worked incredibly well together</a:t>
            </a:r>
            <a:endParaRPr sz="2100"/>
          </a:p>
          <a:p>
            <a:pPr indent="0" lvl="0" marL="457200" rtl="0" algn="l">
              <a:lnSpc>
                <a:spcPct val="100000"/>
              </a:lnSpc>
              <a:spcBef>
                <a:spcPts val="0"/>
              </a:spcBef>
              <a:spcAft>
                <a:spcPts val="0"/>
              </a:spcAft>
              <a:buSzPts val="2400"/>
              <a:buNone/>
            </a:pPr>
            <a:r>
              <a:t/>
            </a:r>
            <a:endParaRPr sz="2100"/>
          </a:p>
        </p:txBody>
      </p:sp>
      <p:sp>
        <p:nvSpPr>
          <p:cNvPr id="138" name="Google Shape;138;g2ee5860f079_0_14"/>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2ee5860f079_0_26"/>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000"/>
              <a:buNone/>
            </a:pPr>
            <a:r>
              <a:rPr lang="en" sz="3000"/>
              <a:t>Future Plans</a:t>
            </a:r>
            <a:endParaRPr sz="3000"/>
          </a:p>
        </p:txBody>
      </p:sp>
      <p:sp>
        <p:nvSpPr>
          <p:cNvPr id="144" name="Google Shape;144;g2ee5860f079_0_26"/>
          <p:cNvSpPr txBox="1"/>
          <p:nvPr>
            <p:ph idx="1" type="body"/>
          </p:nvPr>
        </p:nvSpPr>
        <p:spPr>
          <a:xfrm>
            <a:off x="786150" y="1261700"/>
            <a:ext cx="7571700" cy="3573600"/>
          </a:xfrm>
          <a:prstGeom prst="rect">
            <a:avLst/>
          </a:prstGeom>
          <a:noFill/>
          <a:ln>
            <a:noFill/>
          </a:ln>
        </p:spPr>
        <p:txBody>
          <a:bodyPr anchorCtr="0" anchor="t" bIns="91425" lIns="91425" spcFirstLastPara="1" rIns="91425" wrap="square" tIns="91425">
            <a:noAutofit/>
          </a:bodyPr>
          <a:lstStyle/>
          <a:p>
            <a:pPr indent="-361950" lvl="0" marL="457200" rtl="0" algn="l">
              <a:lnSpc>
                <a:spcPct val="100000"/>
              </a:lnSpc>
              <a:spcBef>
                <a:spcPts val="0"/>
              </a:spcBef>
              <a:spcAft>
                <a:spcPts val="0"/>
              </a:spcAft>
              <a:buClr>
                <a:srgbClr val="3C78D8"/>
              </a:buClr>
              <a:buSzPts val="2100"/>
              <a:buChar char="◎"/>
            </a:pPr>
            <a:r>
              <a:rPr lang="en" sz="2100"/>
              <a:t>Expand the data set</a:t>
            </a:r>
            <a:endParaRPr sz="2100"/>
          </a:p>
          <a:p>
            <a:pPr indent="0" lvl="0" marL="4572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Allow for food replacements</a:t>
            </a:r>
            <a:endParaRPr sz="2100"/>
          </a:p>
          <a:p>
            <a:pPr indent="0" lvl="0" marL="4572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Refine our scraping of websites</a:t>
            </a:r>
            <a:endParaRPr sz="2100"/>
          </a:p>
          <a:p>
            <a:pPr indent="0" lvl="0" marL="457200" rtl="0" algn="l">
              <a:lnSpc>
                <a:spcPct val="100000"/>
              </a:lnSpc>
              <a:spcBef>
                <a:spcPts val="0"/>
              </a:spcBef>
              <a:spcAft>
                <a:spcPts val="0"/>
              </a:spcAft>
              <a:buNone/>
            </a:pPr>
            <a:r>
              <a:t/>
            </a:r>
            <a:endParaRPr sz="2100"/>
          </a:p>
          <a:p>
            <a:pPr indent="-361950" lvl="0" marL="457200" rtl="0" algn="l">
              <a:lnSpc>
                <a:spcPct val="100000"/>
              </a:lnSpc>
              <a:spcBef>
                <a:spcPts val="0"/>
              </a:spcBef>
              <a:spcAft>
                <a:spcPts val="0"/>
              </a:spcAft>
              <a:buClr>
                <a:srgbClr val="3C78D8"/>
              </a:buClr>
              <a:buSzPts val="2100"/>
              <a:buChar char="◎"/>
            </a:pPr>
            <a:r>
              <a:rPr lang="en" sz="2100"/>
              <a:t>Application Refinement and Branding!</a:t>
            </a:r>
            <a:endParaRPr sz="2100"/>
          </a:p>
          <a:p>
            <a:pPr indent="0" lvl="0" marL="457200" rtl="0" algn="l">
              <a:lnSpc>
                <a:spcPct val="100000"/>
              </a:lnSpc>
              <a:spcBef>
                <a:spcPts val="0"/>
              </a:spcBef>
              <a:spcAft>
                <a:spcPts val="0"/>
              </a:spcAft>
              <a:buSzPts val="2400"/>
              <a:buNone/>
            </a:pPr>
            <a:r>
              <a:t/>
            </a:r>
            <a:endParaRPr sz="2100"/>
          </a:p>
        </p:txBody>
      </p:sp>
      <p:sp>
        <p:nvSpPr>
          <p:cNvPr id="145" name="Google Shape;145;g2ee5860f079_0_26"/>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idx="4294967295" type="ctrTitle"/>
          </p:nvPr>
        </p:nvSpPr>
        <p:spPr>
          <a:xfrm>
            <a:off x="685800" y="516542"/>
            <a:ext cx="7772400" cy="11598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en" sz="6000" u="none" cap="none" strike="noStrike">
                <a:solidFill>
                  <a:schemeClr val="accent1"/>
                </a:solidFill>
                <a:latin typeface="Roboto Slab"/>
                <a:ea typeface="Roboto Slab"/>
                <a:cs typeface="Roboto Slab"/>
                <a:sym typeface="Roboto Slab"/>
              </a:rPr>
              <a:t>Thanks!</a:t>
            </a:r>
            <a:endParaRPr b="1" i="0" sz="6000" u="none" cap="none" strike="noStrike">
              <a:solidFill>
                <a:schemeClr val="accent1"/>
              </a:solidFill>
              <a:latin typeface="Roboto Slab"/>
              <a:ea typeface="Roboto Slab"/>
              <a:cs typeface="Roboto Slab"/>
              <a:sym typeface="Roboto Slab"/>
            </a:endParaRPr>
          </a:p>
        </p:txBody>
      </p:sp>
      <p:sp>
        <p:nvSpPr>
          <p:cNvPr id="151" name="Google Shape;151;p25"/>
          <p:cNvSpPr txBox="1"/>
          <p:nvPr>
            <p:ph idx="4294967295" type="subTitle"/>
          </p:nvPr>
        </p:nvSpPr>
        <p:spPr>
          <a:xfrm>
            <a:off x="685800" y="1639913"/>
            <a:ext cx="6593700" cy="78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600"/>
              </a:spcBef>
              <a:spcAft>
                <a:spcPts val="0"/>
              </a:spcAft>
              <a:buClr>
                <a:schemeClr val="accent4"/>
              </a:buClr>
              <a:buSzPts val="3000"/>
              <a:buFont typeface="Arial"/>
              <a:buNone/>
            </a:pPr>
            <a:r>
              <a:rPr b="1" i="0" lang="en" sz="3600" u="none" cap="none" strike="noStrike">
                <a:solidFill>
                  <a:schemeClr val="dk1"/>
                </a:solidFill>
                <a:latin typeface="Arial"/>
                <a:ea typeface="Arial"/>
                <a:cs typeface="Arial"/>
                <a:sym typeface="Arial"/>
              </a:rPr>
              <a:t>Any questions?</a:t>
            </a:r>
            <a:endParaRPr b="1" i="0" sz="3600" u="none" cap="none" strike="noStrike">
              <a:solidFill>
                <a:schemeClr val="dk1"/>
              </a:solidFill>
              <a:latin typeface="Arial"/>
              <a:ea typeface="Arial"/>
              <a:cs typeface="Arial"/>
              <a:sym typeface="Arial"/>
            </a:endParaRPr>
          </a:p>
        </p:txBody>
      </p:sp>
      <p:sp>
        <p:nvSpPr>
          <p:cNvPr id="152" name="Google Shape;152;p25"/>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